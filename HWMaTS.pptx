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9" r:id="rId12"/>
    <p:sldId id="278" r:id="rId13"/>
    <p:sldId id="279" r:id="rId14"/>
  </p:sldIdLst>
  <p:sldSz cx="18288000" cy="10287000"/>
  <p:notesSz cx="6858000" cy="9144000"/>
  <p:embeddedFontLst>
    <p:embeddedFont>
      <p:font typeface="Arimo Bold" panose="020B0604020202020204" charset="0"/>
      <p:regular r:id="rId15"/>
    </p:embeddedFont>
    <p:embeddedFont>
      <p:font typeface="Brasika" panose="020B0604020202020204" charset="0"/>
      <p:regular r:id="rId16"/>
    </p:embeddedFont>
    <p:embeddedFont>
      <p:font typeface="Canva Sans" panose="020B0604020202020204" charset="0"/>
      <p:regular r:id="rId17"/>
    </p:embeddedFont>
    <p:embeddedFont>
      <p:font typeface="Poppins" panose="00000500000000000000" pitchFamily="2"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ganbabu r" userId="f933fd4ab65c8d5d" providerId="LiveId" clId="{CA10EC19-BA83-409B-BAF6-EEC12DD34AE5}"/>
    <pc:docChg chg="custSel modSld">
      <pc:chgData name="jaganbabu r" userId="f933fd4ab65c8d5d" providerId="LiveId" clId="{CA10EC19-BA83-409B-BAF6-EEC12DD34AE5}" dt="2026-09-15T05:18:15.154" v="66" actId="20577"/>
      <pc:docMkLst>
        <pc:docMk/>
      </pc:docMkLst>
      <pc:sldChg chg="modSp mod">
        <pc:chgData name="jaganbabu r" userId="f933fd4ab65c8d5d" providerId="LiveId" clId="{CA10EC19-BA83-409B-BAF6-EEC12DD34AE5}" dt="2026-09-15T05:18:15.154" v="66" actId="20577"/>
        <pc:sldMkLst>
          <pc:docMk/>
          <pc:sldMk cId="0" sldId="257"/>
        </pc:sldMkLst>
        <pc:spChg chg="mod">
          <ac:chgData name="jaganbabu r" userId="f933fd4ab65c8d5d" providerId="LiveId" clId="{CA10EC19-BA83-409B-BAF6-EEC12DD34AE5}" dt="2026-09-15T05:18:00.426" v="46" actId="20577"/>
          <ac:spMkLst>
            <pc:docMk/>
            <pc:sldMk cId="0" sldId="257"/>
            <ac:spMk id="6" creationId="{00000000-0000-0000-0000-000000000000}"/>
          </ac:spMkLst>
        </pc:spChg>
        <pc:spChg chg="mod">
          <ac:chgData name="jaganbabu r" userId="f933fd4ab65c8d5d" providerId="LiveId" clId="{CA10EC19-BA83-409B-BAF6-EEC12DD34AE5}" dt="2026-09-15T05:18:15.154" v="66" actId="20577"/>
          <ac:spMkLst>
            <pc:docMk/>
            <pc:sldMk cId="0" sldId="257"/>
            <ac:spMk id="10"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a:off x="1524433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grpSp>
        <p:nvGrpSpPr>
          <p:cNvPr id="5" name="Group 5"/>
          <p:cNvGrpSpPr/>
          <p:nvPr/>
        </p:nvGrpSpPr>
        <p:grpSpPr>
          <a:xfrm>
            <a:off x="4302841" y="3258116"/>
            <a:ext cx="9946559" cy="800167"/>
            <a:chOff x="0" y="-1273371"/>
            <a:chExt cx="22062933" cy="2921418"/>
          </a:xfrm>
        </p:grpSpPr>
        <p:sp>
          <p:nvSpPr>
            <p:cNvPr id="6" name="Freeform 6"/>
            <p:cNvSpPr/>
            <p:nvPr/>
          </p:nvSpPr>
          <p:spPr>
            <a:xfrm>
              <a:off x="3133854" y="-1273371"/>
              <a:ext cx="18929079" cy="2720864"/>
            </a:xfrm>
            <a:custGeom>
              <a:avLst/>
              <a:gdLst/>
              <a:ahLst/>
              <a:cxnLst/>
              <a:rect l="l" t="t" r="r" b="b"/>
              <a:pathLst>
                <a:path w="16630909" h="1648047">
                  <a:moveTo>
                    <a:pt x="0" y="0"/>
                  </a:moveTo>
                  <a:lnTo>
                    <a:pt x="16630909" y="0"/>
                  </a:lnTo>
                  <a:lnTo>
                    <a:pt x="16630909" y="1648047"/>
                  </a:lnTo>
                  <a:lnTo>
                    <a:pt x="0" y="1648047"/>
                  </a:lnTo>
                  <a:close/>
                </a:path>
              </a:pathLst>
            </a:custGeom>
            <a:solidFill>
              <a:srgbClr val="000000">
                <a:alpha val="0"/>
              </a:srgbClr>
            </a:solidFill>
          </p:spPr>
          <p:txBody>
            <a:bodyPr/>
            <a:lstStyle/>
            <a:p>
              <a:r>
                <a:rPr lang="en-IN" sz="3600" dirty="0">
                  <a:solidFill>
                    <a:schemeClr val="bg2">
                      <a:lumMod val="25000"/>
                    </a:schemeClr>
                  </a:solidFill>
                </a:rPr>
                <a:t>I2311CSC503R – Full Stack Development</a:t>
              </a:r>
            </a:p>
            <a:p>
              <a:endParaRPr lang="en-IN" sz="3600" dirty="0">
                <a:solidFill>
                  <a:schemeClr val="bg2">
                    <a:lumMod val="25000"/>
                  </a:schemeClr>
                </a:solidFill>
              </a:endParaRPr>
            </a:p>
            <a:p>
              <a:r>
                <a:rPr lang="en-IN" sz="3600" dirty="0">
                  <a:solidFill>
                    <a:schemeClr val="bg2">
                      <a:lumMod val="25000"/>
                    </a:schemeClr>
                  </a:solidFill>
                </a:rPr>
                <a:t>		Information Technology</a:t>
              </a:r>
            </a:p>
          </p:txBody>
        </p:sp>
        <p:sp>
          <p:nvSpPr>
            <p:cNvPr id="7" name="TextBox 7"/>
            <p:cNvSpPr txBox="1"/>
            <p:nvPr/>
          </p:nvSpPr>
          <p:spPr>
            <a:xfrm>
              <a:off x="0" y="-19050"/>
              <a:ext cx="16630909" cy="1667097"/>
            </a:xfrm>
            <a:prstGeom prst="rect">
              <a:avLst/>
            </a:prstGeom>
          </p:spPr>
          <p:txBody>
            <a:bodyPr lIns="0" tIns="0" rIns="0" bIns="0" rtlCol="0" anchor="t"/>
            <a:lstStyle/>
            <a:p>
              <a:pPr algn="ctr">
                <a:lnSpc>
                  <a:spcPts val="5287"/>
                </a:lnSpc>
              </a:pPr>
              <a:endParaRPr lang="en-US" sz="4599" dirty="0">
                <a:solidFill>
                  <a:srgbClr val="695C4A"/>
                </a:solidFill>
                <a:latin typeface="Brasika"/>
                <a:ea typeface="Brasika"/>
                <a:cs typeface="Brasika"/>
                <a:sym typeface="Brasika"/>
              </a:endParaRPr>
            </a:p>
          </p:txBody>
        </p:sp>
      </p:grpSp>
      <p:grpSp>
        <p:nvGrpSpPr>
          <p:cNvPr id="8" name="Group 8"/>
          <p:cNvGrpSpPr/>
          <p:nvPr/>
        </p:nvGrpSpPr>
        <p:grpSpPr>
          <a:xfrm>
            <a:off x="12139907" y="5432430"/>
            <a:ext cx="4571932" cy="1133741"/>
            <a:chOff x="0" y="0"/>
            <a:chExt cx="6095909" cy="1511654"/>
          </a:xfrm>
        </p:grpSpPr>
        <p:sp>
          <p:nvSpPr>
            <p:cNvPr id="9" name="Freeform 9"/>
            <p:cNvSpPr/>
            <p:nvPr/>
          </p:nvSpPr>
          <p:spPr>
            <a:xfrm>
              <a:off x="0" y="0"/>
              <a:ext cx="6095909" cy="1511654"/>
            </a:xfrm>
            <a:custGeom>
              <a:avLst/>
              <a:gdLst/>
              <a:ahLst/>
              <a:cxnLst/>
              <a:rect l="l" t="t" r="r" b="b"/>
              <a:pathLst>
                <a:path w="6095909" h="1511654">
                  <a:moveTo>
                    <a:pt x="0" y="0"/>
                  </a:moveTo>
                  <a:lnTo>
                    <a:pt x="6095909" y="0"/>
                  </a:lnTo>
                  <a:lnTo>
                    <a:pt x="6095909" y="1511654"/>
                  </a:lnTo>
                  <a:lnTo>
                    <a:pt x="0" y="1511654"/>
                  </a:lnTo>
                  <a:close/>
                </a:path>
              </a:pathLst>
            </a:custGeom>
            <a:solidFill>
              <a:srgbClr val="000000">
                <a:alpha val="0"/>
              </a:srgbClr>
            </a:solidFill>
          </p:spPr>
        </p:sp>
        <p:sp>
          <p:nvSpPr>
            <p:cNvPr id="10" name="TextBox 10"/>
            <p:cNvSpPr txBox="1"/>
            <p:nvPr/>
          </p:nvSpPr>
          <p:spPr>
            <a:xfrm>
              <a:off x="0" y="-9525"/>
              <a:ext cx="6095909" cy="1521179"/>
            </a:xfrm>
            <a:prstGeom prst="rect">
              <a:avLst/>
            </a:prstGeom>
          </p:spPr>
          <p:txBody>
            <a:bodyPr lIns="0" tIns="0" rIns="0" bIns="0" rtlCol="0" anchor="t"/>
            <a:lstStyle/>
            <a:p>
              <a:pPr algn="ctr">
                <a:lnSpc>
                  <a:spcPts val="3680"/>
                </a:lnSpc>
              </a:pPr>
              <a:r>
                <a:rPr lang="en-US" sz="3200" b="1" dirty="0">
                  <a:solidFill>
                    <a:srgbClr val="695C4A"/>
                  </a:solidFill>
                  <a:latin typeface="Arimo Bold"/>
                  <a:ea typeface="Arimo Bold"/>
                  <a:cs typeface="Arimo Bold"/>
                  <a:sym typeface="Arimo Bold"/>
                </a:rPr>
                <a:t>Under the guidance of</a:t>
              </a:r>
            </a:p>
            <a:p>
              <a:pPr algn="ctr">
                <a:lnSpc>
                  <a:spcPts val="3680"/>
                </a:lnSpc>
              </a:pPr>
              <a:endParaRPr lang="en-US" sz="3200" b="1" dirty="0">
                <a:solidFill>
                  <a:srgbClr val="695C4A"/>
                </a:solidFill>
                <a:latin typeface="Arimo Bold"/>
                <a:ea typeface="Arimo Bold"/>
                <a:cs typeface="Arimo Bold"/>
                <a:sym typeface="Arimo Bold"/>
              </a:endParaRPr>
            </a:p>
            <a:p>
              <a:pPr algn="ctr">
                <a:lnSpc>
                  <a:spcPts val="3680"/>
                </a:lnSpc>
              </a:pPr>
              <a:r>
                <a:rPr lang="en-US" sz="3200" b="1" dirty="0" err="1">
                  <a:solidFill>
                    <a:srgbClr val="695C4A"/>
                  </a:solidFill>
                  <a:latin typeface="Arimo Bold"/>
                  <a:ea typeface="Arimo Bold"/>
                  <a:cs typeface="Arimo Bold"/>
                  <a:sym typeface="Arimo Bold"/>
                </a:rPr>
                <a:t>Ms</a:t>
              </a:r>
              <a:r>
                <a:rPr lang="en-US" sz="3200" b="1" dirty="0">
                  <a:solidFill>
                    <a:srgbClr val="695C4A"/>
                  </a:solidFill>
                  <a:latin typeface="Arimo Bold"/>
                  <a:ea typeface="Arimo Bold"/>
                  <a:cs typeface="Arimo Bold"/>
                  <a:sym typeface="Arimo Bold"/>
                </a:rPr>
                <a:t> Sai Lakshmi</a:t>
              </a:r>
            </a:p>
            <a:p>
              <a:pPr algn="ctr">
                <a:lnSpc>
                  <a:spcPts val="5041"/>
                </a:lnSpc>
              </a:pPr>
              <a:endParaRPr lang="en-US" sz="3200" b="1" dirty="0">
                <a:solidFill>
                  <a:srgbClr val="695C4A"/>
                </a:solidFill>
                <a:latin typeface="Arimo Bold"/>
                <a:ea typeface="Arimo Bold"/>
                <a:cs typeface="Arimo Bold"/>
                <a:sym typeface="Arimo Bold"/>
              </a:endParaRPr>
            </a:p>
          </p:txBody>
        </p:sp>
      </p:grpSp>
      <p:grpSp>
        <p:nvGrpSpPr>
          <p:cNvPr id="11" name="Group 11"/>
          <p:cNvGrpSpPr/>
          <p:nvPr/>
        </p:nvGrpSpPr>
        <p:grpSpPr>
          <a:xfrm>
            <a:off x="7933367" y="6008059"/>
            <a:ext cx="8338858" cy="1663601"/>
            <a:chOff x="0" y="-9525"/>
            <a:chExt cx="11118478" cy="2218134"/>
          </a:xfrm>
        </p:grpSpPr>
        <p:sp>
          <p:nvSpPr>
            <p:cNvPr id="12" name="Freeform 12"/>
            <p:cNvSpPr/>
            <p:nvPr/>
          </p:nvSpPr>
          <p:spPr>
            <a:xfrm>
              <a:off x="3606692" y="1552865"/>
              <a:ext cx="7511786" cy="655744"/>
            </a:xfrm>
            <a:custGeom>
              <a:avLst/>
              <a:gdLst/>
              <a:ahLst/>
              <a:cxnLst/>
              <a:rect l="l" t="t" r="r" b="b"/>
              <a:pathLst>
                <a:path w="7511786" h="655744">
                  <a:moveTo>
                    <a:pt x="0" y="0"/>
                  </a:moveTo>
                  <a:lnTo>
                    <a:pt x="7511786" y="0"/>
                  </a:lnTo>
                  <a:lnTo>
                    <a:pt x="7511786" y="655744"/>
                  </a:lnTo>
                  <a:lnTo>
                    <a:pt x="0" y="655744"/>
                  </a:lnTo>
                  <a:close/>
                </a:path>
              </a:pathLst>
            </a:custGeom>
            <a:solidFill>
              <a:srgbClr val="000000">
                <a:alpha val="0"/>
              </a:srgbClr>
            </a:solidFill>
          </p:spPr>
        </p:sp>
        <p:sp>
          <p:nvSpPr>
            <p:cNvPr id="13" name="TextBox 13"/>
            <p:cNvSpPr txBox="1"/>
            <p:nvPr/>
          </p:nvSpPr>
          <p:spPr>
            <a:xfrm>
              <a:off x="0" y="-9525"/>
              <a:ext cx="7511787" cy="665269"/>
            </a:xfrm>
            <a:prstGeom prst="rect">
              <a:avLst/>
            </a:prstGeom>
          </p:spPr>
          <p:txBody>
            <a:bodyPr lIns="0" tIns="0" rIns="0" bIns="0" rtlCol="0" anchor="t"/>
            <a:lstStyle/>
            <a:p>
              <a:pPr algn="ctr">
                <a:lnSpc>
                  <a:spcPts val="3680"/>
                </a:lnSpc>
              </a:pPr>
              <a:endParaRPr lang="en-US" sz="3200" b="1" dirty="0">
                <a:solidFill>
                  <a:srgbClr val="695C4A"/>
                </a:solidFill>
                <a:latin typeface="Arimo Bold"/>
                <a:ea typeface="Arimo Bold"/>
                <a:cs typeface="Arimo Bold"/>
                <a:sym typeface="Arimo Bold"/>
              </a:endParaRPr>
            </a:p>
          </p:txBody>
        </p:sp>
      </p:grpSp>
      <p:grpSp>
        <p:nvGrpSpPr>
          <p:cNvPr id="14" name="Group 14"/>
          <p:cNvGrpSpPr/>
          <p:nvPr/>
        </p:nvGrpSpPr>
        <p:grpSpPr>
          <a:xfrm>
            <a:off x="9440285" y="7315503"/>
            <a:ext cx="6553200" cy="2884453"/>
            <a:chOff x="0" y="0"/>
            <a:chExt cx="7450821" cy="1643013"/>
          </a:xfrm>
        </p:grpSpPr>
        <p:sp>
          <p:nvSpPr>
            <p:cNvPr id="15" name="Freeform 15"/>
            <p:cNvSpPr/>
            <p:nvPr/>
          </p:nvSpPr>
          <p:spPr>
            <a:xfrm>
              <a:off x="0" y="0"/>
              <a:ext cx="7450821" cy="1643013"/>
            </a:xfrm>
            <a:custGeom>
              <a:avLst/>
              <a:gdLst/>
              <a:ahLst/>
              <a:cxnLst/>
              <a:rect l="l" t="t" r="r" b="b"/>
              <a:pathLst>
                <a:path w="7450821" h="1643013">
                  <a:moveTo>
                    <a:pt x="0" y="0"/>
                  </a:moveTo>
                  <a:lnTo>
                    <a:pt x="7450821" y="0"/>
                  </a:lnTo>
                  <a:lnTo>
                    <a:pt x="7450821" y="1643013"/>
                  </a:lnTo>
                  <a:lnTo>
                    <a:pt x="0" y="1643013"/>
                  </a:lnTo>
                  <a:close/>
                </a:path>
              </a:pathLst>
            </a:custGeom>
            <a:solidFill>
              <a:srgbClr val="000000">
                <a:alpha val="0"/>
              </a:srgbClr>
            </a:solidFill>
          </p:spPr>
        </p:sp>
        <p:sp>
          <p:nvSpPr>
            <p:cNvPr id="16" name="TextBox 16"/>
            <p:cNvSpPr txBox="1"/>
            <p:nvPr/>
          </p:nvSpPr>
          <p:spPr>
            <a:xfrm>
              <a:off x="0" y="-9525"/>
              <a:ext cx="7450821" cy="1652538"/>
            </a:xfrm>
            <a:prstGeom prst="rect">
              <a:avLst/>
            </a:prstGeom>
          </p:spPr>
          <p:txBody>
            <a:bodyPr lIns="0" tIns="0" rIns="0" bIns="0" rtlCol="0" anchor="t"/>
            <a:lstStyle/>
            <a:p>
              <a:pPr algn="ctr">
                <a:lnSpc>
                  <a:spcPts val="5289"/>
                </a:lnSpc>
              </a:pPr>
              <a:endParaRPr lang="en-US" sz="3199" b="1" dirty="0">
                <a:solidFill>
                  <a:srgbClr val="695C4A"/>
                </a:solidFill>
                <a:latin typeface="Arimo Bold"/>
                <a:ea typeface="Arimo Bold"/>
                <a:cs typeface="Arimo Bold"/>
                <a:sym typeface="Arimo Bold"/>
              </a:endParaRPr>
            </a:p>
          </p:txBody>
        </p:sp>
      </p:grpSp>
      <p:sp>
        <p:nvSpPr>
          <p:cNvPr id="19" name="TextBox 19"/>
          <p:cNvSpPr txBox="1"/>
          <p:nvPr/>
        </p:nvSpPr>
        <p:spPr>
          <a:xfrm>
            <a:off x="11290421" y="7259058"/>
            <a:ext cx="10316496" cy="504528"/>
          </a:xfrm>
          <a:prstGeom prst="rect">
            <a:avLst/>
          </a:prstGeom>
        </p:spPr>
        <p:txBody>
          <a:bodyPr lIns="0" tIns="0" rIns="0" bIns="0" rtlCol="0" anchor="t"/>
          <a:lstStyle/>
          <a:p>
            <a:pPr algn="l">
              <a:lnSpc>
                <a:spcPts val="2879"/>
              </a:lnSpc>
            </a:pPr>
            <a:endParaRPr lang="en-US" sz="2400" dirty="0">
              <a:solidFill>
                <a:srgbClr val="000000"/>
              </a:solidFill>
              <a:latin typeface="Poppins"/>
              <a:ea typeface="Poppins"/>
              <a:cs typeface="Poppins"/>
              <a:sym typeface="Poppins"/>
            </a:endParaRPr>
          </a:p>
        </p:txBody>
      </p:sp>
      <p:grpSp>
        <p:nvGrpSpPr>
          <p:cNvPr id="20" name="Group 20"/>
          <p:cNvGrpSpPr/>
          <p:nvPr/>
        </p:nvGrpSpPr>
        <p:grpSpPr>
          <a:xfrm>
            <a:off x="11290421" y="7789111"/>
            <a:ext cx="10316496" cy="490241"/>
            <a:chOff x="0" y="0"/>
            <a:chExt cx="13755328" cy="653654"/>
          </a:xfrm>
        </p:grpSpPr>
        <p:sp>
          <p:nvSpPr>
            <p:cNvPr id="21" name="Freeform 21"/>
            <p:cNvSpPr/>
            <p:nvPr/>
          </p:nvSpPr>
          <p:spPr>
            <a:xfrm>
              <a:off x="0" y="0"/>
              <a:ext cx="13755328" cy="653654"/>
            </a:xfrm>
            <a:custGeom>
              <a:avLst/>
              <a:gdLst/>
              <a:ahLst/>
              <a:cxnLst/>
              <a:rect l="l" t="t" r="r" b="b"/>
              <a:pathLst>
                <a:path w="13755328" h="653654">
                  <a:moveTo>
                    <a:pt x="0" y="0"/>
                  </a:moveTo>
                  <a:lnTo>
                    <a:pt x="13755328" y="0"/>
                  </a:lnTo>
                  <a:lnTo>
                    <a:pt x="13755328" y="653654"/>
                  </a:lnTo>
                  <a:lnTo>
                    <a:pt x="0" y="653654"/>
                  </a:lnTo>
                  <a:close/>
                </a:path>
              </a:pathLst>
            </a:custGeom>
            <a:solidFill>
              <a:srgbClr val="000000">
                <a:alpha val="0"/>
              </a:srgbClr>
            </a:solidFill>
          </p:spPr>
        </p:sp>
        <p:sp>
          <p:nvSpPr>
            <p:cNvPr id="22" name="TextBox 22"/>
            <p:cNvSpPr txBox="1"/>
            <p:nvPr/>
          </p:nvSpPr>
          <p:spPr>
            <a:xfrm>
              <a:off x="0" y="-19050"/>
              <a:ext cx="13755328" cy="672704"/>
            </a:xfrm>
            <a:prstGeom prst="rect">
              <a:avLst/>
            </a:prstGeom>
          </p:spPr>
          <p:txBody>
            <a:bodyPr lIns="0" tIns="0" rIns="0" bIns="0" rtlCol="0" anchor="t"/>
            <a:lstStyle/>
            <a:p>
              <a:pPr algn="l">
                <a:lnSpc>
                  <a:spcPts val="2879"/>
                </a:lnSpc>
              </a:pPr>
              <a:endParaRPr lang="en-US" sz="2400" dirty="0">
                <a:solidFill>
                  <a:srgbClr val="000000"/>
                </a:solidFill>
                <a:latin typeface="Poppins"/>
                <a:ea typeface="Poppins"/>
                <a:cs typeface="Poppins"/>
                <a:sym typeface="Poppins"/>
              </a:endParaRPr>
            </a:p>
          </p:txBody>
        </p:sp>
      </p:grpSp>
      <p:grpSp>
        <p:nvGrpSpPr>
          <p:cNvPr id="23" name="Group 23"/>
          <p:cNvGrpSpPr/>
          <p:nvPr/>
        </p:nvGrpSpPr>
        <p:grpSpPr>
          <a:xfrm>
            <a:off x="11299386" y="8253201"/>
            <a:ext cx="10316496" cy="504529"/>
            <a:chOff x="0" y="0"/>
            <a:chExt cx="13755328" cy="653654"/>
          </a:xfrm>
        </p:grpSpPr>
        <p:sp>
          <p:nvSpPr>
            <p:cNvPr id="24" name="Freeform 24"/>
            <p:cNvSpPr/>
            <p:nvPr/>
          </p:nvSpPr>
          <p:spPr>
            <a:xfrm>
              <a:off x="0" y="0"/>
              <a:ext cx="13755328" cy="653654"/>
            </a:xfrm>
            <a:custGeom>
              <a:avLst/>
              <a:gdLst/>
              <a:ahLst/>
              <a:cxnLst/>
              <a:rect l="l" t="t" r="r" b="b"/>
              <a:pathLst>
                <a:path w="13755328" h="653654">
                  <a:moveTo>
                    <a:pt x="0" y="0"/>
                  </a:moveTo>
                  <a:lnTo>
                    <a:pt x="13755328" y="0"/>
                  </a:lnTo>
                  <a:lnTo>
                    <a:pt x="13755328" y="653654"/>
                  </a:lnTo>
                  <a:lnTo>
                    <a:pt x="0" y="653654"/>
                  </a:lnTo>
                  <a:close/>
                </a:path>
              </a:pathLst>
            </a:custGeom>
            <a:solidFill>
              <a:srgbClr val="000000">
                <a:alpha val="0"/>
              </a:srgbClr>
            </a:solidFill>
          </p:spPr>
        </p:sp>
        <p:sp>
          <p:nvSpPr>
            <p:cNvPr id="25" name="TextBox 25"/>
            <p:cNvSpPr txBox="1"/>
            <p:nvPr/>
          </p:nvSpPr>
          <p:spPr>
            <a:xfrm>
              <a:off x="0" y="-19050"/>
              <a:ext cx="13755328" cy="672704"/>
            </a:xfrm>
            <a:prstGeom prst="rect">
              <a:avLst/>
            </a:prstGeom>
          </p:spPr>
          <p:txBody>
            <a:bodyPr lIns="0" tIns="0" rIns="0" bIns="0" rtlCol="0" anchor="t"/>
            <a:lstStyle/>
            <a:p>
              <a:pPr algn="l">
                <a:lnSpc>
                  <a:spcPts val="2879"/>
                </a:lnSpc>
              </a:pPr>
              <a:endParaRPr lang="en-US" sz="2400" dirty="0">
                <a:solidFill>
                  <a:srgbClr val="000000"/>
                </a:solidFill>
                <a:latin typeface="Poppins"/>
                <a:ea typeface="Poppins"/>
                <a:cs typeface="Poppins"/>
                <a:sym typeface="Poppins"/>
              </a:endParaRPr>
            </a:p>
          </p:txBody>
        </p:sp>
      </p:grpSp>
      <p:grpSp>
        <p:nvGrpSpPr>
          <p:cNvPr id="26" name="Group 26"/>
          <p:cNvGrpSpPr/>
          <p:nvPr/>
        </p:nvGrpSpPr>
        <p:grpSpPr>
          <a:xfrm>
            <a:off x="11190090" y="8714868"/>
            <a:ext cx="4803395" cy="717842"/>
            <a:chOff x="-32775" y="-57150"/>
            <a:chExt cx="6404527" cy="957124"/>
          </a:xfrm>
        </p:grpSpPr>
        <p:sp>
          <p:nvSpPr>
            <p:cNvPr id="27" name="Freeform 27"/>
            <p:cNvSpPr/>
            <p:nvPr/>
          </p:nvSpPr>
          <p:spPr>
            <a:xfrm>
              <a:off x="-32775" y="0"/>
              <a:ext cx="6371752" cy="899974"/>
            </a:xfrm>
            <a:custGeom>
              <a:avLst/>
              <a:gdLst/>
              <a:ahLst/>
              <a:cxnLst/>
              <a:rect l="l" t="t" r="r" b="b"/>
              <a:pathLst>
                <a:path w="6371752" h="899974">
                  <a:moveTo>
                    <a:pt x="0" y="0"/>
                  </a:moveTo>
                  <a:lnTo>
                    <a:pt x="6371752" y="0"/>
                  </a:lnTo>
                  <a:lnTo>
                    <a:pt x="6371752" y="899974"/>
                  </a:lnTo>
                  <a:lnTo>
                    <a:pt x="0" y="899974"/>
                  </a:lnTo>
                  <a:close/>
                </a:path>
              </a:pathLst>
            </a:custGeom>
            <a:solidFill>
              <a:srgbClr val="000000">
                <a:alpha val="0"/>
              </a:srgbClr>
            </a:solidFill>
          </p:spPr>
        </p:sp>
        <p:sp>
          <p:nvSpPr>
            <p:cNvPr id="28" name="TextBox 28"/>
            <p:cNvSpPr txBox="1"/>
            <p:nvPr/>
          </p:nvSpPr>
          <p:spPr>
            <a:xfrm>
              <a:off x="0" y="-57150"/>
              <a:ext cx="6371752" cy="957124"/>
            </a:xfrm>
            <a:prstGeom prst="rect">
              <a:avLst/>
            </a:prstGeom>
          </p:spPr>
          <p:txBody>
            <a:bodyPr lIns="0" tIns="0" rIns="0" bIns="0" rtlCol="0" anchor="t"/>
            <a:lstStyle/>
            <a:p>
              <a:pPr algn="ctr">
                <a:lnSpc>
                  <a:spcPts val="3219"/>
                </a:lnSpc>
              </a:pPr>
              <a:endParaRPr lang="en-US" sz="2400" dirty="0">
                <a:solidFill>
                  <a:srgbClr val="000000"/>
                </a:solidFill>
                <a:latin typeface="Poppins"/>
                <a:ea typeface="Poppins"/>
                <a:cs typeface="Poppins"/>
                <a:sym typeface="Poppins"/>
              </a:endParaRPr>
            </a:p>
          </p:txBody>
        </p:sp>
      </p:grpSp>
      <p:sp>
        <p:nvSpPr>
          <p:cNvPr id="29" name="Freeform 29"/>
          <p:cNvSpPr/>
          <p:nvPr/>
        </p:nvSpPr>
        <p:spPr>
          <a:xfrm>
            <a:off x="3850799" y="4977333"/>
            <a:ext cx="14897174" cy="2217282"/>
          </a:xfrm>
          <a:custGeom>
            <a:avLst/>
            <a:gdLst/>
            <a:ahLst/>
            <a:cxnLst/>
            <a:rect l="l" t="t" r="r" b="b"/>
            <a:pathLst>
              <a:path w="14897174" h="2217282">
                <a:moveTo>
                  <a:pt x="0" y="0"/>
                </a:moveTo>
                <a:lnTo>
                  <a:pt x="14897174" y="0"/>
                </a:lnTo>
                <a:lnTo>
                  <a:pt x="14897174" y="2217282"/>
                </a:lnTo>
                <a:lnTo>
                  <a:pt x="0" y="2217282"/>
                </a:lnTo>
                <a:lnTo>
                  <a:pt x="0" y="0"/>
                </a:lnTo>
                <a:close/>
              </a:path>
            </a:pathLst>
          </a:custGeom>
          <a:blipFill>
            <a:blip r:embed="rId4">
              <a:extLst>
                <a:ext uri="{96DAC541-7B7A-43D3-8B79-37D633B846F1}">
                  <asvg:svgBlip xmlns:asvg="http://schemas.microsoft.com/office/drawing/2016/SVG/main" r:embed="rId5"/>
                </a:ext>
              </a:extLst>
            </a:blip>
            <a:stretch>
              <a:fillRect t="-14" b="-14"/>
            </a:stretch>
          </a:blipFill>
        </p:spPr>
      </p:sp>
      <p:sp>
        <p:nvSpPr>
          <p:cNvPr id="31" name="TextBox 30">
            <a:extLst>
              <a:ext uri="{FF2B5EF4-FFF2-40B4-BE49-F238E27FC236}">
                <a16:creationId xmlns:a16="http://schemas.microsoft.com/office/drawing/2014/main" id="{7B923828-8E37-BC21-A196-28BB0C983B9D}"/>
              </a:ext>
            </a:extLst>
          </p:cNvPr>
          <p:cNvSpPr txBox="1"/>
          <p:nvPr/>
        </p:nvSpPr>
        <p:spPr>
          <a:xfrm>
            <a:off x="8077200" y="8645641"/>
            <a:ext cx="10810566" cy="486287"/>
          </a:xfrm>
          <a:prstGeom prst="rect">
            <a:avLst/>
          </a:prstGeom>
          <a:noFill/>
        </p:spPr>
        <p:txBody>
          <a:bodyPr wrap="square">
            <a:spAutoFit/>
          </a:bodyPr>
          <a:lstStyle/>
          <a:p>
            <a:pPr algn="ctr">
              <a:lnSpc>
                <a:spcPts val="3219"/>
              </a:lnSpc>
            </a:pPr>
            <a:r>
              <a:rPr lang="en-US" sz="2400" dirty="0">
                <a:solidFill>
                  <a:srgbClr val="000000"/>
                </a:solidFill>
                <a:latin typeface="Poppins"/>
                <a:ea typeface="Poppins"/>
                <a:cs typeface="Poppins"/>
                <a:sym typeface="Poppins"/>
              </a:rPr>
              <a:t> </a:t>
            </a:r>
          </a:p>
        </p:txBody>
      </p:sp>
      <p:sp>
        <p:nvSpPr>
          <p:cNvPr id="36" name="TextBox 35">
            <a:extLst>
              <a:ext uri="{FF2B5EF4-FFF2-40B4-BE49-F238E27FC236}">
                <a16:creationId xmlns:a16="http://schemas.microsoft.com/office/drawing/2014/main" id="{8FF5BF9D-8214-E213-1310-85543E6EC448}"/>
              </a:ext>
            </a:extLst>
          </p:cNvPr>
          <p:cNvSpPr txBox="1"/>
          <p:nvPr/>
        </p:nvSpPr>
        <p:spPr>
          <a:xfrm>
            <a:off x="2869319" y="2130075"/>
            <a:ext cx="13588315" cy="668516"/>
          </a:xfrm>
          <a:prstGeom prst="rect">
            <a:avLst/>
          </a:prstGeom>
          <a:noFill/>
        </p:spPr>
        <p:txBody>
          <a:bodyPr wrap="square">
            <a:spAutoFit/>
          </a:bodyPr>
          <a:lstStyle/>
          <a:p>
            <a:pPr>
              <a:lnSpc>
                <a:spcPct val="104000"/>
              </a:lnSpc>
            </a:pPr>
            <a:r>
              <a:rPr lang="en-US" sz="3600" b="1" dirty="0">
                <a:solidFill>
                  <a:srgbClr val="030303"/>
                </a:solidFill>
                <a:latin typeface="Brasika" panose="020B0604020202020204" charset="0"/>
                <a:ea typeface="DM Sans SemiBold" pitchFamily="34" charset="-122"/>
                <a:cs typeface="DM Sans SemiBold" pitchFamily="34" charset="-120"/>
              </a:rPr>
              <a:t>Hazardous Waste Management &amp; Tracking System</a:t>
            </a:r>
            <a:endParaRPr lang="en-US" sz="3600" b="1" dirty="0">
              <a:latin typeface="Brasika" panose="020B0604020202020204" charset="0"/>
            </a:endParaRPr>
          </a:p>
        </p:txBody>
      </p:sp>
      <p:sp>
        <p:nvSpPr>
          <p:cNvPr id="38" name="TextBox 37">
            <a:extLst>
              <a:ext uri="{FF2B5EF4-FFF2-40B4-BE49-F238E27FC236}">
                <a16:creationId xmlns:a16="http://schemas.microsoft.com/office/drawing/2014/main" id="{96439CC9-31B5-B87F-DE6A-DCB750CE8A75}"/>
              </a:ext>
            </a:extLst>
          </p:cNvPr>
          <p:cNvSpPr txBox="1"/>
          <p:nvPr/>
        </p:nvSpPr>
        <p:spPr>
          <a:xfrm>
            <a:off x="-838200" y="5352307"/>
            <a:ext cx="10810566" cy="1478931"/>
          </a:xfrm>
          <a:prstGeom prst="rect">
            <a:avLst/>
          </a:prstGeom>
          <a:noFill/>
        </p:spPr>
        <p:txBody>
          <a:bodyPr wrap="square">
            <a:spAutoFit/>
          </a:bodyPr>
          <a:lstStyle/>
          <a:p>
            <a:pPr algn="ctr">
              <a:lnSpc>
                <a:spcPts val="3679"/>
              </a:lnSpc>
            </a:pPr>
            <a:r>
              <a:rPr lang="en-US" sz="2800" b="1" dirty="0">
                <a:solidFill>
                  <a:srgbClr val="695C4A"/>
                </a:solidFill>
                <a:latin typeface="Arimo Bold"/>
                <a:ea typeface="Arimo Bold"/>
                <a:cs typeface="Arimo Bold"/>
                <a:sym typeface="Arimo Bold"/>
              </a:rPr>
              <a:t>PRESENTED BY </a:t>
            </a:r>
          </a:p>
          <a:p>
            <a:pPr algn="ctr">
              <a:lnSpc>
                <a:spcPts val="3679"/>
              </a:lnSpc>
            </a:pPr>
            <a:endParaRPr lang="en-US" sz="2800" b="1" dirty="0">
              <a:solidFill>
                <a:srgbClr val="695C4A"/>
              </a:solidFill>
              <a:latin typeface="Arimo Bold"/>
              <a:ea typeface="Arimo Bold"/>
              <a:cs typeface="Arimo Bold"/>
              <a:sym typeface="Arimo Bold"/>
            </a:endParaRPr>
          </a:p>
          <a:p>
            <a:pPr algn="ctr">
              <a:lnSpc>
                <a:spcPts val="3679"/>
              </a:lnSpc>
            </a:pPr>
            <a:r>
              <a:rPr lang="en-US" sz="2800" b="1" dirty="0">
                <a:solidFill>
                  <a:srgbClr val="695C4A"/>
                </a:solidFill>
                <a:latin typeface="Arimo Bold"/>
                <a:ea typeface="Arimo Bold"/>
                <a:cs typeface="Arimo Bold"/>
                <a:sym typeface="Arimo Bold"/>
              </a:rPr>
              <a:t>Shravan. J - 310624205252</a:t>
            </a:r>
          </a:p>
        </p:txBody>
      </p:sp>
      <p:sp>
        <p:nvSpPr>
          <p:cNvPr id="17" name="TextBox 16">
            <a:extLst>
              <a:ext uri="{FF2B5EF4-FFF2-40B4-BE49-F238E27FC236}">
                <a16:creationId xmlns:a16="http://schemas.microsoft.com/office/drawing/2014/main" id="{22CB4461-B086-FC1B-4D5C-EDB5D4F5C3AE}"/>
              </a:ext>
            </a:extLst>
          </p:cNvPr>
          <p:cNvSpPr txBox="1"/>
          <p:nvPr/>
        </p:nvSpPr>
        <p:spPr>
          <a:xfrm>
            <a:off x="5113851" y="585407"/>
            <a:ext cx="7328140" cy="707886"/>
          </a:xfrm>
          <a:prstGeom prst="rect">
            <a:avLst/>
          </a:prstGeom>
          <a:noFill/>
        </p:spPr>
        <p:txBody>
          <a:bodyPr wrap="square" rtlCol="0">
            <a:spAutoFit/>
          </a:bodyPr>
          <a:lstStyle/>
          <a:p>
            <a:r>
              <a:rPr lang="en-IN" sz="4000" dirty="0"/>
              <a:t>Easwari Engineering College    </a:t>
            </a:r>
          </a:p>
        </p:txBody>
      </p:sp>
      <p:pic>
        <p:nvPicPr>
          <p:cNvPr id="3" name="Picture 4">
            <a:extLst>
              <a:ext uri="{FF2B5EF4-FFF2-40B4-BE49-F238E27FC236}">
                <a16:creationId xmlns:a16="http://schemas.microsoft.com/office/drawing/2014/main" id="{2A4BA2A5-2E2E-D498-C0EB-DC1295A51A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14671" y="387392"/>
            <a:ext cx="1227320" cy="12273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1524000" y="1533524"/>
            <a:ext cx="11154133" cy="9186822"/>
            <a:chOff x="0" y="0"/>
            <a:chExt cx="14872177" cy="12249095"/>
          </a:xfrm>
        </p:grpSpPr>
        <p:sp>
          <p:nvSpPr>
            <p:cNvPr id="3" name="Freeform 3"/>
            <p:cNvSpPr/>
            <p:nvPr/>
          </p:nvSpPr>
          <p:spPr>
            <a:xfrm>
              <a:off x="0" y="0"/>
              <a:ext cx="14872177" cy="12249095"/>
            </a:xfrm>
            <a:custGeom>
              <a:avLst/>
              <a:gdLst/>
              <a:ahLst/>
              <a:cxnLst/>
              <a:rect l="l" t="t" r="r" b="b"/>
              <a:pathLst>
                <a:path w="14872177" h="12249095">
                  <a:moveTo>
                    <a:pt x="0" y="0"/>
                  </a:moveTo>
                  <a:lnTo>
                    <a:pt x="14872177" y="0"/>
                  </a:lnTo>
                  <a:lnTo>
                    <a:pt x="14872177" y="12249095"/>
                  </a:lnTo>
                  <a:lnTo>
                    <a:pt x="0" y="12249095"/>
                  </a:lnTo>
                  <a:close/>
                </a:path>
              </a:pathLst>
            </a:custGeom>
            <a:solidFill>
              <a:srgbClr val="000000">
                <a:alpha val="0"/>
              </a:srgbClr>
            </a:solidFill>
          </p:spPr>
        </p:sp>
        <p:sp>
          <p:nvSpPr>
            <p:cNvPr id="4" name="TextBox 4"/>
            <p:cNvSpPr txBox="1"/>
            <p:nvPr/>
          </p:nvSpPr>
          <p:spPr>
            <a:xfrm>
              <a:off x="0" y="-171450"/>
              <a:ext cx="14872177" cy="12420545"/>
            </a:xfrm>
            <a:prstGeom prst="rect">
              <a:avLst/>
            </a:prstGeom>
          </p:spPr>
          <p:txBody>
            <a:bodyPr lIns="0" tIns="0" rIns="0" bIns="0" rtlCol="0" anchor="t"/>
            <a:lstStyle/>
            <a:p>
              <a:pPr marL="834391" lvl="3" indent="-342900" algn="just">
                <a:lnSpc>
                  <a:spcPts val="4752"/>
                </a:lnSpc>
                <a:buFont typeface="Courier New" panose="02070309020205020404" pitchFamily="49" charset="0"/>
                <a:buChar char="o"/>
              </a:pPr>
              <a:endParaRPr lang="en-US" sz="2400" dirty="0">
                <a:solidFill>
                  <a:srgbClr val="000000"/>
                </a:solidFill>
                <a:latin typeface="Canva Sans"/>
                <a:ea typeface="Canva Sans"/>
                <a:cs typeface="Canva Sans"/>
                <a:sym typeface="Canva Sans"/>
              </a:endParaRP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Title </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Abstract</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Introduction </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Literature survey</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Existing system and Disadvantages</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Proposed system and Advantages</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System requirements</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System Architecture</a:t>
              </a:r>
            </a:p>
            <a:p>
              <a:pPr marL="834391" lvl="3" indent="-342900" algn="just">
                <a:lnSpc>
                  <a:spcPts val="4752"/>
                </a:lnSpc>
                <a:buFont typeface="Courier New" panose="02070309020205020404" pitchFamily="49" charset="0"/>
                <a:buChar char="o"/>
              </a:pPr>
              <a:r>
                <a:rPr lang="en-US" sz="2400" dirty="0">
                  <a:solidFill>
                    <a:srgbClr val="000000"/>
                  </a:solidFill>
                  <a:latin typeface="Canva Sans"/>
                  <a:ea typeface="Canva Sans"/>
                  <a:cs typeface="Canva Sans"/>
                  <a:sym typeface="Canva Sans"/>
                </a:rPr>
                <a:t>References</a:t>
              </a:r>
            </a:p>
          </p:txBody>
        </p:sp>
      </p:grpSp>
      <p:grpSp>
        <p:nvGrpSpPr>
          <p:cNvPr id="5" name="Group 5"/>
          <p:cNvGrpSpPr/>
          <p:nvPr/>
        </p:nvGrpSpPr>
        <p:grpSpPr>
          <a:xfrm>
            <a:off x="673334" y="332282"/>
            <a:ext cx="7862824" cy="1201242"/>
            <a:chOff x="0" y="-19050"/>
            <a:chExt cx="10483765" cy="1601655"/>
          </a:xfrm>
        </p:grpSpPr>
        <p:sp>
          <p:nvSpPr>
            <p:cNvPr id="6" name="Freeform 6"/>
            <p:cNvSpPr/>
            <p:nvPr/>
          </p:nvSpPr>
          <p:spPr>
            <a:xfrm>
              <a:off x="107949" y="225303"/>
              <a:ext cx="10375816" cy="1357302"/>
            </a:xfrm>
            <a:custGeom>
              <a:avLst/>
              <a:gdLst/>
              <a:ahLst/>
              <a:cxnLst/>
              <a:rect l="l" t="t" r="r" b="b"/>
              <a:pathLst>
                <a:path w="10375816" h="1357302">
                  <a:moveTo>
                    <a:pt x="0" y="0"/>
                  </a:moveTo>
                  <a:lnTo>
                    <a:pt x="10375816" y="0"/>
                  </a:lnTo>
                  <a:lnTo>
                    <a:pt x="10375816" y="1357302"/>
                  </a:lnTo>
                  <a:lnTo>
                    <a:pt x="0" y="1357302"/>
                  </a:lnTo>
                  <a:close/>
                </a:path>
              </a:pathLst>
            </a:custGeom>
            <a:solidFill>
              <a:srgbClr val="000000">
                <a:alpha val="0"/>
              </a:srgbClr>
            </a:solidFill>
          </p:spPr>
        </p:sp>
        <p:sp>
          <p:nvSpPr>
            <p:cNvPr id="7" name="TextBox 7"/>
            <p:cNvSpPr txBox="1"/>
            <p:nvPr/>
          </p:nvSpPr>
          <p:spPr>
            <a:xfrm>
              <a:off x="0" y="-19050"/>
              <a:ext cx="10375816" cy="1376352"/>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CONTENTS :</a:t>
              </a:r>
            </a:p>
          </p:txBody>
        </p:sp>
      </p:grpSp>
      <p:sp>
        <p:nvSpPr>
          <p:cNvPr id="8" name="Freeform 8"/>
          <p:cNvSpPr/>
          <p:nvPr/>
        </p:nvSpPr>
        <p:spPr>
          <a:xfrm>
            <a:off x="15468600" y="23352"/>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grpSp>
        <p:nvGrpSpPr>
          <p:cNvPr id="9" name="Group 9"/>
          <p:cNvGrpSpPr/>
          <p:nvPr/>
        </p:nvGrpSpPr>
        <p:grpSpPr>
          <a:xfrm>
            <a:off x="457200" y="1496974"/>
            <a:ext cx="3974306" cy="38100"/>
            <a:chOff x="0" y="0"/>
            <a:chExt cx="5299075" cy="50800"/>
          </a:xfrm>
        </p:grpSpPr>
        <p:sp>
          <p:nvSpPr>
            <p:cNvPr id="10" name="Freeform 10"/>
            <p:cNvSpPr/>
            <p:nvPr/>
          </p:nvSpPr>
          <p:spPr>
            <a:xfrm>
              <a:off x="0" y="0"/>
              <a:ext cx="5299075" cy="50800"/>
            </a:xfrm>
            <a:custGeom>
              <a:avLst/>
              <a:gdLst/>
              <a:ahLst/>
              <a:cxnLst/>
              <a:rect l="l" t="t" r="r" b="b"/>
              <a:pathLst>
                <a:path w="5299075" h="50800">
                  <a:moveTo>
                    <a:pt x="0" y="0"/>
                  </a:moveTo>
                  <a:lnTo>
                    <a:pt x="5299075" y="0"/>
                  </a:lnTo>
                  <a:lnTo>
                    <a:pt x="5299075" y="50800"/>
                  </a:lnTo>
                  <a:lnTo>
                    <a:pt x="0" y="50800"/>
                  </a:lnTo>
                  <a:close/>
                </a:path>
              </a:pathLst>
            </a:custGeom>
            <a:solidFill>
              <a:srgbClr val="A69C8E"/>
            </a:solid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2852131">
            <a:off x="-7662073" y="3059260"/>
            <a:ext cx="18930865" cy="18758766"/>
          </a:xfrm>
          <a:custGeom>
            <a:avLst/>
            <a:gdLst/>
            <a:ahLst/>
            <a:cxnLst/>
            <a:rect l="l" t="t" r="r" b="b"/>
            <a:pathLst>
              <a:path w="18930865" h="18758766">
                <a:moveTo>
                  <a:pt x="0" y="0"/>
                </a:moveTo>
                <a:lnTo>
                  <a:pt x="18930865" y="0"/>
                </a:lnTo>
                <a:lnTo>
                  <a:pt x="18930865" y="18758766"/>
                </a:lnTo>
                <a:lnTo>
                  <a:pt x="0" y="18758766"/>
                </a:lnTo>
                <a:lnTo>
                  <a:pt x="0" y="0"/>
                </a:lnTo>
                <a:close/>
              </a:path>
            </a:pathLst>
          </a:custGeom>
          <a:blipFill>
            <a:blip r:embed="rId2">
              <a:alphaModFix amt="7999"/>
              <a:extLst>
                <a:ext uri="{96DAC541-7B7A-43D3-8B79-37D633B846F1}">
                  <asvg:svgBlip xmlns:asvg="http://schemas.microsoft.com/office/drawing/2016/SVG/main" r:embed="rId3"/>
                </a:ext>
              </a:extLst>
            </a:blip>
            <a:stretch>
              <a:fillRect l="-23" r="-23"/>
            </a:stretch>
          </a:blipFill>
        </p:spPr>
      </p:sp>
      <p:sp>
        <p:nvSpPr>
          <p:cNvPr id="3" name="Freeform 3"/>
          <p:cNvSpPr/>
          <p:nvPr/>
        </p:nvSpPr>
        <p:spPr>
          <a:xfrm>
            <a:off x="4097320" y="507957"/>
            <a:ext cx="924343" cy="867202"/>
          </a:xfrm>
          <a:custGeom>
            <a:avLst/>
            <a:gdLst/>
            <a:ahLst/>
            <a:cxnLst/>
            <a:rect l="l" t="t" r="r" b="b"/>
            <a:pathLst>
              <a:path w="924343" h="867202">
                <a:moveTo>
                  <a:pt x="0" y="0"/>
                </a:moveTo>
                <a:lnTo>
                  <a:pt x="924343" y="0"/>
                </a:lnTo>
                <a:lnTo>
                  <a:pt x="924343" y="867202"/>
                </a:lnTo>
                <a:lnTo>
                  <a:pt x="0" y="867202"/>
                </a:lnTo>
                <a:lnTo>
                  <a:pt x="0" y="0"/>
                </a:lnTo>
                <a:close/>
              </a:path>
            </a:pathLst>
          </a:custGeom>
          <a:blipFill>
            <a:blip r:embed="rId4">
              <a:extLst>
                <a:ext uri="{96DAC541-7B7A-43D3-8B79-37D633B846F1}">
                  <asvg:svgBlip xmlns:asvg="http://schemas.microsoft.com/office/drawing/2016/SVG/main" r:embed="rId5"/>
                </a:ext>
              </a:extLst>
            </a:blip>
            <a:stretch>
              <a:fillRect t="-31" b="-31"/>
            </a:stretch>
          </a:blipFill>
        </p:spPr>
      </p:sp>
      <p:grpSp>
        <p:nvGrpSpPr>
          <p:cNvPr id="4" name="Group 4"/>
          <p:cNvGrpSpPr/>
          <p:nvPr/>
        </p:nvGrpSpPr>
        <p:grpSpPr>
          <a:xfrm>
            <a:off x="862986" y="750954"/>
            <a:ext cx="7781862" cy="1017977"/>
            <a:chOff x="0" y="0"/>
            <a:chExt cx="10375816" cy="1357302"/>
          </a:xfrm>
        </p:grpSpPr>
        <p:sp>
          <p:nvSpPr>
            <p:cNvPr id="5" name="Freeform 5"/>
            <p:cNvSpPr/>
            <p:nvPr/>
          </p:nvSpPr>
          <p:spPr>
            <a:xfrm>
              <a:off x="0" y="0"/>
              <a:ext cx="10375816" cy="1357302"/>
            </a:xfrm>
            <a:custGeom>
              <a:avLst/>
              <a:gdLst/>
              <a:ahLst/>
              <a:cxnLst/>
              <a:rect l="l" t="t" r="r" b="b"/>
              <a:pathLst>
                <a:path w="10375816" h="1357302">
                  <a:moveTo>
                    <a:pt x="0" y="0"/>
                  </a:moveTo>
                  <a:lnTo>
                    <a:pt x="10375816" y="0"/>
                  </a:lnTo>
                  <a:lnTo>
                    <a:pt x="10375816" y="1357302"/>
                  </a:lnTo>
                  <a:lnTo>
                    <a:pt x="0" y="1357302"/>
                  </a:lnTo>
                  <a:close/>
                </a:path>
              </a:pathLst>
            </a:custGeom>
            <a:solidFill>
              <a:srgbClr val="000000">
                <a:alpha val="0"/>
              </a:srgbClr>
            </a:solidFill>
          </p:spPr>
        </p:sp>
        <p:sp>
          <p:nvSpPr>
            <p:cNvPr id="6" name="TextBox 6"/>
            <p:cNvSpPr txBox="1"/>
            <p:nvPr/>
          </p:nvSpPr>
          <p:spPr>
            <a:xfrm>
              <a:off x="0" y="-19050"/>
              <a:ext cx="10375816" cy="1376352"/>
            </a:xfrm>
            <a:prstGeom prst="rect">
              <a:avLst/>
            </a:prstGeom>
          </p:spPr>
          <p:txBody>
            <a:bodyPr lIns="0" tIns="0" rIns="0" bIns="0" rtlCol="0" anchor="t"/>
            <a:lstStyle/>
            <a:p>
              <a:pPr algn="l">
                <a:lnSpc>
                  <a:spcPts val="4369"/>
                </a:lnSpc>
              </a:pPr>
              <a:r>
                <a:rPr lang="en-US" sz="3799" dirty="0">
                  <a:solidFill>
                    <a:srgbClr val="695C4A"/>
                  </a:solidFill>
                  <a:latin typeface="Brasika"/>
                  <a:ea typeface="Brasika"/>
                  <a:cs typeface="Brasika"/>
                  <a:sym typeface="Brasika"/>
                </a:rPr>
                <a:t>ABSTRACT</a:t>
              </a:r>
            </a:p>
          </p:txBody>
        </p:sp>
      </p:grpSp>
      <p:grpSp>
        <p:nvGrpSpPr>
          <p:cNvPr id="10" name="Group 10"/>
          <p:cNvGrpSpPr/>
          <p:nvPr/>
        </p:nvGrpSpPr>
        <p:grpSpPr>
          <a:xfrm>
            <a:off x="779611" y="1768931"/>
            <a:ext cx="3974306" cy="38100"/>
            <a:chOff x="0" y="0"/>
            <a:chExt cx="5299075" cy="50800"/>
          </a:xfrm>
        </p:grpSpPr>
        <p:sp>
          <p:nvSpPr>
            <p:cNvPr id="11" name="Freeform 11"/>
            <p:cNvSpPr/>
            <p:nvPr/>
          </p:nvSpPr>
          <p:spPr>
            <a:xfrm>
              <a:off x="0" y="0"/>
              <a:ext cx="5299075" cy="50800"/>
            </a:xfrm>
            <a:custGeom>
              <a:avLst/>
              <a:gdLst/>
              <a:ahLst/>
              <a:cxnLst/>
              <a:rect l="l" t="t" r="r" b="b"/>
              <a:pathLst>
                <a:path w="5299075" h="50800">
                  <a:moveTo>
                    <a:pt x="0" y="0"/>
                  </a:moveTo>
                  <a:lnTo>
                    <a:pt x="5299075" y="0"/>
                  </a:lnTo>
                  <a:lnTo>
                    <a:pt x="5299075" y="50800"/>
                  </a:lnTo>
                  <a:lnTo>
                    <a:pt x="0" y="50800"/>
                  </a:lnTo>
                  <a:close/>
                </a:path>
              </a:pathLst>
            </a:custGeom>
            <a:solidFill>
              <a:srgbClr val="A69C8E"/>
            </a:solidFill>
          </p:spPr>
        </p:sp>
      </p:grpSp>
      <p:sp>
        <p:nvSpPr>
          <p:cNvPr id="12" name="Freeform 12"/>
          <p:cNvSpPr/>
          <p:nvPr/>
        </p:nvSpPr>
        <p:spPr>
          <a:xfrm>
            <a:off x="15730039"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6">
              <a:alphaModFix amt="9999"/>
              <a:extLst>
                <a:ext uri="{96DAC541-7B7A-43D3-8B79-37D633B846F1}">
                  <asvg:svgBlip xmlns:asvg="http://schemas.microsoft.com/office/drawing/2016/SVG/main" r:embed="rId7"/>
                </a:ext>
              </a:extLst>
            </a:blip>
            <a:stretch>
              <a:fillRect l="-25" r="-25"/>
            </a:stretch>
          </a:blipFill>
        </p:spPr>
      </p:sp>
      <p:sp>
        <p:nvSpPr>
          <p:cNvPr id="14" name="Rectangle 2">
            <a:extLst>
              <a:ext uri="{FF2B5EF4-FFF2-40B4-BE49-F238E27FC236}">
                <a16:creationId xmlns:a16="http://schemas.microsoft.com/office/drawing/2014/main" id="{8A905108-164A-2E75-D5E7-9A9F3B8057E9}"/>
              </a:ext>
            </a:extLst>
          </p:cNvPr>
          <p:cNvSpPr>
            <a:spLocks noChangeArrowheads="1"/>
          </p:cNvSpPr>
          <p:nvPr/>
        </p:nvSpPr>
        <p:spPr bwMode="auto">
          <a:xfrm>
            <a:off x="1467348" y="2300073"/>
            <a:ext cx="15353303"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Hazardous Waste Managemen</a:t>
            </a: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&amp; Tracking System is a web-based platform developed to facilitate the systematic management and traceability of hazardous waste. The system connects laboratories, industries, transporters, treatment facilities, and administrators through a centralized platform, enabling end-to-end tracking from waste registration and collection to transportation, treatment, and final disposal. It maintains records of waste quantities, shipment details, regulatory documents, and operational activities while automatically identifying quantity discrepancies, transportation delays, missing documents, and reported incidents. Real-time notifications are generated to inform responsible users of critical events and required actions, while a custom AI-based voice alert mechanism provides dynamically generated notifications for critical and emergency situations. The system also includes an investigation module that enables administrators to review discrepancies, request explanations, evaluate supporting evidence, and resolve violations. Role-based access control, QR-based tracking, and audit logs further enhance security, transparency, and accountability. Overall, the proposed system aims to improve the efficiency, traceability, compliance, and safety of hazardous waste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a:off x="15877629"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grpSp>
        <p:nvGrpSpPr>
          <p:cNvPr id="3" name="Group 3"/>
          <p:cNvGrpSpPr/>
          <p:nvPr/>
        </p:nvGrpSpPr>
        <p:grpSpPr>
          <a:xfrm>
            <a:off x="731631" y="404494"/>
            <a:ext cx="7781862" cy="1008470"/>
            <a:chOff x="0" y="0"/>
            <a:chExt cx="10375816" cy="1344626"/>
          </a:xfrm>
        </p:grpSpPr>
        <p:sp>
          <p:nvSpPr>
            <p:cNvPr id="4" name="Freeform 4"/>
            <p:cNvSpPr/>
            <p:nvPr/>
          </p:nvSpPr>
          <p:spPr>
            <a:xfrm>
              <a:off x="0" y="0"/>
              <a:ext cx="10375816" cy="1344626"/>
            </a:xfrm>
            <a:custGeom>
              <a:avLst/>
              <a:gdLst/>
              <a:ahLst/>
              <a:cxnLst/>
              <a:rect l="l" t="t" r="r" b="b"/>
              <a:pathLst>
                <a:path w="10375816" h="1344626">
                  <a:moveTo>
                    <a:pt x="0" y="0"/>
                  </a:moveTo>
                  <a:lnTo>
                    <a:pt x="10375816" y="0"/>
                  </a:lnTo>
                  <a:lnTo>
                    <a:pt x="10375816" y="1344626"/>
                  </a:lnTo>
                  <a:lnTo>
                    <a:pt x="0" y="1344626"/>
                  </a:lnTo>
                  <a:close/>
                </a:path>
              </a:pathLst>
            </a:custGeom>
            <a:solidFill>
              <a:srgbClr val="000000">
                <a:alpha val="0"/>
              </a:srgbClr>
            </a:solidFill>
          </p:spPr>
        </p:sp>
        <p:sp>
          <p:nvSpPr>
            <p:cNvPr id="5" name="TextBox 5"/>
            <p:cNvSpPr txBox="1"/>
            <p:nvPr/>
          </p:nvSpPr>
          <p:spPr>
            <a:xfrm>
              <a:off x="0" y="-19050"/>
              <a:ext cx="10375816" cy="1363676"/>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INTRODUCTION</a:t>
              </a:r>
            </a:p>
          </p:txBody>
        </p:sp>
      </p:grpSp>
      <p:grpSp>
        <p:nvGrpSpPr>
          <p:cNvPr id="6" name="Group 6"/>
          <p:cNvGrpSpPr/>
          <p:nvPr/>
        </p:nvGrpSpPr>
        <p:grpSpPr>
          <a:xfrm>
            <a:off x="731631" y="1541552"/>
            <a:ext cx="4421219" cy="38100"/>
            <a:chOff x="0" y="0"/>
            <a:chExt cx="5894959" cy="50800"/>
          </a:xfrm>
        </p:grpSpPr>
        <p:sp>
          <p:nvSpPr>
            <p:cNvPr id="7" name="Freeform 7"/>
            <p:cNvSpPr/>
            <p:nvPr/>
          </p:nvSpPr>
          <p:spPr>
            <a:xfrm>
              <a:off x="0" y="0"/>
              <a:ext cx="5894959" cy="50800"/>
            </a:xfrm>
            <a:custGeom>
              <a:avLst/>
              <a:gdLst/>
              <a:ahLst/>
              <a:cxnLst/>
              <a:rect l="l" t="t" r="r" b="b"/>
              <a:pathLst>
                <a:path w="5894959" h="50800">
                  <a:moveTo>
                    <a:pt x="0" y="0"/>
                  </a:moveTo>
                  <a:lnTo>
                    <a:pt x="5894959" y="0"/>
                  </a:lnTo>
                  <a:lnTo>
                    <a:pt x="5894959" y="50800"/>
                  </a:lnTo>
                  <a:lnTo>
                    <a:pt x="0" y="50800"/>
                  </a:lnTo>
                  <a:close/>
                </a:path>
              </a:pathLst>
            </a:custGeom>
            <a:solidFill>
              <a:srgbClr val="A69C8E"/>
            </a:solidFill>
          </p:spPr>
        </p:sp>
      </p:grpSp>
      <p:sp>
        <p:nvSpPr>
          <p:cNvPr id="9" name="Freeform 9"/>
          <p:cNvSpPr/>
          <p:nvPr/>
        </p:nvSpPr>
        <p:spPr>
          <a:xfrm>
            <a:off x="941800" y="2183300"/>
            <a:ext cx="14935829" cy="10036952"/>
          </a:xfrm>
          <a:custGeom>
            <a:avLst/>
            <a:gdLst/>
            <a:ahLst/>
            <a:cxnLst/>
            <a:rect l="l" t="t" r="r" b="b"/>
            <a:pathLst>
              <a:path w="19914439" h="13382602">
                <a:moveTo>
                  <a:pt x="0" y="0"/>
                </a:moveTo>
                <a:lnTo>
                  <a:pt x="19914439" y="0"/>
                </a:lnTo>
                <a:lnTo>
                  <a:pt x="19914439" y="13382602"/>
                </a:lnTo>
                <a:lnTo>
                  <a:pt x="0" y="13382602"/>
                </a:lnTo>
                <a:close/>
              </a:path>
            </a:pathLst>
          </a:custGeom>
          <a:solidFill>
            <a:srgbClr val="000000">
              <a:alpha val="0"/>
            </a:srgbClr>
          </a:solidFill>
        </p:spPr>
      </p:sp>
      <p:sp>
        <p:nvSpPr>
          <p:cNvPr id="12" name="Rectangle 2">
            <a:extLst>
              <a:ext uri="{FF2B5EF4-FFF2-40B4-BE49-F238E27FC236}">
                <a16:creationId xmlns:a16="http://schemas.microsoft.com/office/drawing/2014/main" id="{842E7E2A-B259-4C61-001D-D34B2C3EBC04}"/>
              </a:ext>
            </a:extLst>
          </p:cNvPr>
          <p:cNvSpPr>
            <a:spLocks noChangeArrowheads="1"/>
          </p:cNvSpPr>
          <p:nvPr/>
        </p:nvSpPr>
        <p:spPr bwMode="auto">
          <a:xfrm>
            <a:off x="1074234" y="1964948"/>
            <a:ext cx="16680366"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Hazardous waste generated by laboratories and industries requires proper handling, transportation, treatment, and disposal to prevent risks to human health and the environment. Traditional waste management processes often depend on manual records and communication between different organizations, which can result in delays, inaccurate quantity records, missing documents, and limited traceability. The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Hazardous Waste Management &amp; Tracking System</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proposed as a centralized web-based solution to digitally manage the complete lifecycle of hazardous waste. The system connects waste-generating organizations, transporters, treatment facilities, and administrators through role-based portals. It provides real-time tracking, document management, QR-based identification, automated monitoring, and audit logging. The system can detect issues such as quantity mismatches, transportation delays, missing documents, and incidents, and notify the responsible users through real-time alerts. A custom AI-based voice notification system further improves the response to critical and emergency events by generating dynamic voice alerts. An investigation module allows administrators to review discrepancies, request explanations, examine supporting evidence, and record resolutions or violations. Thus, the proposed system provides a more transparent, traceable, efficient, and proactive approach to hazardous waste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72126" y="574155"/>
            <a:ext cx="7557474" cy="511869"/>
            <a:chOff x="0" y="0"/>
            <a:chExt cx="10375816" cy="1300842"/>
          </a:xfrm>
        </p:grpSpPr>
        <p:sp>
          <p:nvSpPr>
            <p:cNvPr id="4" name="Freeform 4"/>
            <p:cNvSpPr/>
            <p:nvPr/>
          </p:nvSpPr>
          <p:spPr>
            <a:xfrm>
              <a:off x="0" y="0"/>
              <a:ext cx="10375816" cy="1300842"/>
            </a:xfrm>
            <a:custGeom>
              <a:avLst/>
              <a:gdLst/>
              <a:ahLst/>
              <a:cxnLst/>
              <a:rect l="l" t="t" r="r" b="b"/>
              <a:pathLst>
                <a:path w="10375816" h="1300842">
                  <a:moveTo>
                    <a:pt x="0" y="0"/>
                  </a:moveTo>
                  <a:lnTo>
                    <a:pt x="10375816" y="0"/>
                  </a:lnTo>
                  <a:lnTo>
                    <a:pt x="10375816" y="1300842"/>
                  </a:lnTo>
                  <a:lnTo>
                    <a:pt x="0" y="1300842"/>
                  </a:lnTo>
                  <a:close/>
                </a:path>
              </a:pathLst>
            </a:custGeom>
            <a:solidFill>
              <a:srgbClr val="000000">
                <a:alpha val="0"/>
              </a:srgbClr>
            </a:solidFill>
          </p:spPr>
        </p:sp>
        <p:sp>
          <p:nvSpPr>
            <p:cNvPr id="5" name="TextBox 5"/>
            <p:cNvSpPr txBox="1"/>
            <p:nvPr/>
          </p:nvSpPr>
          <p:spPr>
            <a:xfrm>
              <a:off x="0" y="-19050"/>
              <a:ext cx="10375816" cy="1319892"/>
            </a:xfrm>
            <a:prstGeom prst="rect">
              <a:avLst/>
            </a:prstGeom>
          </p:spPr>
          <p:txBody>
            <a:bodyPr lIns="0" tIns="0" rIns="0" bIns="0" rtlCol="0" anchor="t"/>
            <a:lstStyle/>
            <a:p>
              <a:pPr algn="l">
                <a:lnSpc>
                  <a:spcPts val="4369"/>
                </a:lnSpc>
              </a:pPr>
              <a:r>
                <a:rPr lang="en-US" sz="3799" dirty="0">
                  <a:solidFill>
                    <a:srgbClr val="695C4A"/>
                  </a:solidFill>
                  <a:latin typeface="Brasika"/>
                  <a:ea typeface="Brasika"/>
                  <a:cs typeface="Brasika"/>
                  <a:sym typeface="Brasika"/>
                </a:rPr>
                <a:t>LITERATURE SURVEY :</a:t>
              </a:r>
            </a:p>
          </p:txBody>
        </p:sp>
      </p:grpSp>
      <p:graphicFrame>
        <p:nvGraphicFramePr>
          <p:cNvPr id="7" name="Table 6">
            <a:extLst>
              <a:ext uri="{FF2B5EF4-FFF2-40B4-BE49-F238E27FC236}">
                <a16:creationId xmlns:a16="http://schemas.microsoft.com/office/drawing/2014/main" id="{DAA3F813-1A03-1F12-0F03-82FA13B47C0F}"/>
              </a:ext>
            </a:extLst>
          </p:cNvPr>
          <p:cNvGraphicFramePr>
            <a:graphicFrameLocks noGrp="1"/>
          </p:cNvGraphicFramePr>
          <p:nvPr>
            <p:extLst>
              <p:ext uri="{D42A27DB-BD31-4B8C-83A1-F6EECF244321}">
                <p14:modId xmlns:p14="http://schemas.microsoft.com/office/powerpoint/2010/main" val="1852813718"/>
              </p:ext>
            </p:extLst>
          </p:nvPr>
        </p:nvGraphicFramePr>
        <p:xfrm>
          <a:off x="672126" y="1790700"/>
          <a:ext cx="17158676" cy="7922145"/>
        </p:xfrm>
        <a:graphic>
          <a:graphicData uri="http://schemas.openxmlformats.org/drawingml/2006/table">
            <a:tbl>
              <a:tblPr/>
              <a:tblGrid>
                <a:gridCol w="3595074">
                  <a:extLst>
                    <a:ext uri="{9D8B030D-6E8A-4147-A177-3AD203B41FA5}">
                      <a16:colId xmlns:a16="http://schemas.microsoft.com/office/drawing/2014/main" val="1041232305"/>
                    </a:ext>
                  </a:extLst>
                </a:gridCol>
                <a:gridCol w="1524000">
                  <a:extLst>
                    <a:ext uri="{9D8B030D-6E8A-4147-A177-3AD203B41FA5}">
                      <a16:colId xmlns:a16="http://schemas.microsoft.com/office/drawing/2014/main" val="3893409739"/>
                    </a:ext>
                  </a:extLst>
                </a:gridCol>
                <a:gridCol w="5176132">
                  <a:extLst>
                    <a:ext uri="{9D8B030D-6E8A-4147-A177-3AD203B41FA5}">
                      <a16:colId xmlns:a16="http://schemas.microsoft.com/office/drawing/2014/main" val="997601106"/>
                    </a:ext>
                  </a:extLst>
                </a:gridCol>
                <a:gridCol w="3431735">
                  <a:extLst>
                    <a:ext uri="{9D8B030D-6E8A-4147-A177-3AD203B41FA5}">
                      <a16:colId xmlns:a16="http://schemas.microsoft.com/office/drawing/2014/main" val="805586387"/>
                    </a:ext>
                  </a:extLst>
                </a:gridCol>
                <a:gridCol w="3431735">
                  <a:extLst>
                    <a:ext uri="{9D8B030D-6E8A-4147-A177-3AD203B41FA5}">
                      <a16:colId xmlns:a16="http://schemas.microsoft.com/office/drawing/2014/main" val="4126446681"/>
                    </a:ext>
                  </a:extLst>
                </a:gridCol>
              </a:tblGrid>
              <a:tr h="522955">
                <a:tc>
                  <a:txBody>
                    <a:bodyPr/>
                    <a:lstStyle/>
                    <a:p>
                      <a:pPr>
                        <a:buNone/>
                      </a:pPr>
                      <a:r>
                        <a:rPr lang="en-IN" sz="2800" b="1">
                          <a:latin typeface="Times New Roman" panose="02020603050405020304" pitchFamily="18" charset="0"/>
                          <a:cs typeface="Times New Roman" panose="02020603050405020304" pitchFamily="18" charset="0"/>
                        </a:rPr>
                        <a:t>AUTHOR</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lgn="r">
                        <a:buNone/>
                      </a:pPr>
                      <a:r>
                        <a:rPr lang="en-IN" sz="2800" b="1">
                          <a:latin typeface="Times New Roman" panose="02020603050405020304" pitchFamily="18" charset="0"/>
                          <a:cs typeface="Times New Roman" panose="02020603050405020304" pitchFamily="18" charset="0"/>
                        </a:rPr>
                        <a:t>YEAR</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buNone/>
                      </a:pPr>
                      <a:r>
                        <a:rPr lang="en-IN" sz="2800" b="1">
                          <a:latin typeface="Times New Roman" panose="02020603050405020304" pitchFamily="18" charset="0"/>
                          <a:cs typeface="Times New Roman" panose="02020603050405020304" pitchFamily="18" charset="0"/>
                        </a:rPr>
                        <a:t>DESCRIPTION</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buNone/>
                      </a:pPr>
                      <a:r>
                        <a:rPr lang="en-IN" sz="2800" b="1">
                          <a:latin typeface="Times New Roman" panose="02020603050405020304" pitchFamily="18" charset="0"/>
                          <a:cs typeface="Times New Roman" panose="02020603050405020304" pitchFamily="18" charset="0"/>
                        </a:rPr>
                        <a:t>PROS</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buNone/>
                      </a:pPr>
                      <a:r>
                        <a:rPr lang="en-IN" sz="2800" b="1">
                          <a:latin typeface="Times New Roman" panose="02020603050405020304" pitchFamily="18" charset="0"/>
                          <a:cs typeface="Times New Roman" panose="02020603050405020304" pitchFamily="18" charset="0"/>
                        </a:rPr>
                        <a:t>CONS</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extLst>
                  <a:ext uri="{0D108BD9-81ED-4DB2-BD59-A6C34878D82A}">
                    <a16:rowId xmlns:a16="http://schemas.microsoft.com/office/drawing/2014/main" val="2556401578"/>
                  </a:ext>
                </a:extLst>
              </a:tr>
              <a:tr h="1479838">
                <a:tc>
                  <a:txBody>
                    <a:bodyPr/>
                    <a:lstStyle/>
                    <a:p>
                      <a:pPr>
                        <a:buNone/>
                      </a:pPr>
                      <a:r>
                        <a:rPr lang="en-IN" sz="2800" b="1" dirty="0">
                          <a:latin typeface="Times New Roman" panose="02020603050405020304" pitchFamily="18" charset="0"/>
                          <a:cs typeface="Times New Roman" panose="02020603050405020304" pitchFamily="18" charset="0"/>
                        </a:rPr>
                        <a:t>Ahmad et al.</a:t>
                      </a:r>
                      <a:endParaRPr lang="en-IN" sz="2800" dirty="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lgn="r">
                        <a:buNone/>
                      </a:pPr>
                      <a:r>
                        <a:rPr lang="en-IN" sz="2800" dirty="0">
                          <a:latin typeface="Times New Roman" panose="02020603050405020304" pitchFamily="18" charset="0"/>
                          <a:cs typeface="Times New Roman" panose="02020603050405020304" pitchFamily="18" charset="0"/>
                        </a:rPr>
                        <a:t>2021</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Proposed blockchain-based waste management for secure tracking and traceability.</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Improves transparency, security, and traceability.</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Complex implementation and higher cost.</a:t>
                      </a:r>
                    </a:p>
                  </a:txBody>
                  <a:tcPr marL="39701" marR="39701" marT="19851" marB="19851" anchor="ctr">
                    <a:lnL>
                      <a:noFill/>
                    </a:lnL>
                    <a:lnR>
                      <a:noFill/>
                    </a:lnR>
                    <a:lnT>
                      <a:noFill/>
                    </a:lnT>
                    <a:lnB>
                      <a:noFill/>
                    </a:lnB>
                    <a:noFill/>
                  </a:tcPr>
                </a:tc>
                <a:extLst>
                  <a:ext uri="{0D108BD9-81ED-4DB2-BD59-A6C34878D82A}">
                    <a16:rowId xmlns:a16="http://schemas.microsoft.com/office/drawing/2014/main" val="7986735"/>
                  </a:ext>
                </a:extLst>
              </a:tr>
              <a:tr h="1479838">
                <a:tc>
                  <a:txBody>
                    <a:bodyPr/>
                    <a:lstStyle/>
                    <a:p>
                      <a:pPr>
                        <a:buNone/>
                      </a:pPr>
                      <a:r>
                        <a:rPr lang="en-IN" sz="2800" b="1" dirty="0">
                          <a:latin typeface="Times New Roman" panose="02020603050405020304" pitchFamily="18" charset="0"/>
                          <a:cs typeface="Times New Roman" panose="02020603050405020304" pitchFamily="18" charset="0"/>
                        </a:rPr>
                        <a:t>Gopalakrishnan et al.</a:t>
                      </a:r>
                      <a:endParaRPr lang="en-IN" sz="2800" dirty="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lgn="r">
                        <a:buNone/>
                      </a:pPr>
                      <a:r>
                        <a:rPr lang="en-IN" sz="2800">
                          <a:latin typeface="Times New Roman" panose="02020603050405020304" pitchFamily="18" charset="0"/>
                          <a:cs typeface="Times New Roman" panose="02020603050405020304" pitchFamily="18" charset="0"/>
                        </a:rPr>
                        <a:t>2021</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Developed a blockchain-based model for waste collection, transportation, and management.</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Supports transparent and efficient waste tracking.</a:t>
                      </a:r>
                    </a:p>
                  </a:txBody>
                  <a:tcPr marL="39701" marR="39701" marT="19851" marB="19851" anchor="ctr">
                    <a:lnL>
                      <a:noFill/>
                    </a:lnL>
                    <a:lnR>
                      <a:noFill/>
                    </a:lnR>
                    <a:lnT>
                      <a:noFill/>
                    </a:lnT>
                    <a:lnB>
                      <a:noFill/>
                    </a:lnB>
                    <a:noFill/>
                  </a:tcPr>
                </a:tc>
                <a:tc>
                  <a:txBody>
                    <a:bodyPr/>
                    <a:lstStyle/>
                    <a:p>
                      <a:pPr>
                        <a:buNone/>
                      </a:pPr>
                      <a:r>
                        <a:rPr lang="en-IN" sz="2800">
                          <a:latin typeface="Times New Roman" panose="02020603050405020304" pitchFamily="18" charset="0"/>
                          <a:cs typeface="Times New Roman" panose="02020603050405020304" pitchFamily="18" charset="0"/>
                        </a:rPr>
                        <a:t>Requires technical infrastructure and maintenance.</a:t>
                      </a:r>
                    </a:p>
                  </a:txBody>
                  <a:tcPr marL="39701" marR="39701" marT="19851" marB="19851" anchor="ctr">
                    <a:lnL>
                      <a:noFill/>
                    </a:lnL>
                    <a:lnR>
                      <a:noFill/>
                    </a:lnR>
                    <a:lnT>
                      <a:noFill/>
                    </a:lnT>
                    <a:lnB>
                      <a:noFill/>
                    </a:lnB>
                    <a:noFill/>
                  </a:tcPr>
                </a:tc>
                <a:extLst>
                  <a:ext uri="{0D108BD9-81ED-4DB2-BD59-A6C34878D82A}">
                    <a16:rowId xmlns:a16="http://schemas.microsoft.com/office/drawing/2014/main" val="3035718343"/>
                  </a:ext>
                </a:extLst>
              </a:tr>
              <a:tr h="1479838">
                <a:tc>
                  <a:txBody>
                    <a:bodyPr/>
                    <a:lstStyle/>
                    <a:p>
                      <a:pPr>
                        <a:buNone/>
                      </a:pPr>
                      <a:r>
                        <a:rPr lang="en-IN" sz="2800" b="1">
                          <a:latin typeface="Times New Roman" panose="02020603050405020304" pitchFamily="18" charset="0"/>
                          <a:cs typeface="Times New Roman" panose="02020603050405020304" pitchFamily="18" charset="0"/>
                        </a:rPr>
                        <a:t>Bamakan et al.</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lgn="r">
                        <a:buNone/>
                      </a:pPr>
                      <a:r>
                        <a:rPr lang="en-IN" sz="2800" dirty="0">
                          <a:latin typeface="Times New Roman" panose="02020603050405020304" pitchFamily="18" charset="0"/>
                          <a:cs typeface="Times New Roman" panose="02020603050405020304" pitchFamily="18" charset="0"/>
                        </a:rPr>
                        <a:t>2022</a:t>
                      </a:r>
                    </a:p>
                  </a:txBody>
                  <a:tcPr marL="39701" marR="39701" marT="19851" marB="19851" anchor="ctr">
                    <a:lnL>
                      <a:noFill/>
                    </a:lnL>
                    <a:lnR>
                      <a:noFill/>
                    </a:lnR>
                    <a:lnT>
                      <a:noFill/>
                    </a:lnT>
                    <a:lnB>
                      <a:noFill/>
                    </a:lnB>
                    <a:noFill/>
                  </a:tcPr>
                </a:tc>
                <a:tc>
                  <a:txBody>
                    <a:bodyPr/>
                    <a:lstStyle/>
                    <a:p>
                      <a:pPr>
                        <a:buNone/>
                      </a:pPr>
                      <a:r>
                        <a:rPr lang="en-US" sz="2800" dirty="0">
                          <a:latin typeface="Times New Roman" panose="02020603050405020304" pitchFamily="18" charset="0"/>
                          <a:cs typeface="Times New Roman" panose="02020603050405020304" pitchFamily="18" charset="0"/>
                        </a:rPr>
                        <a:t>Studied blockchain applications for healthcare waste management and regulatory processes.</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Provides end-to-end traceability and accountability.</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Integration with existing systems is challenging.</a:t>
                      </a:r>
                    </a:p>
                  </a:txBody>
                  <a:tcPr marL="39701" marR="39701" marT="19851" marB="19851" anchor="ctr">
                    <a:lnL>
                      <a:noFill/>
                    </a:lnL>
                    <a:lnR>
                      <a:noFill/>
                    </a:lnR>
                    <a:lnT>
                      <a:noFill/>
                    </a:lnT>
                    <a:lnB>
                      <a:noFill/>
                    </a:lnB>
                    <a:noFill/>
                  </a:tcPr>
                </a:tc>
                <a:extLst>
                  <a:ext uri="{0D108BD9-81ED-4DB2-BD59-A6C34878D82A}">
                    <a16:rowId xmlns:a16="http://schemas.microsoft.com/office/drawing/2014/main" val="1546293266"/>
                  </a:ext>
                </a:extLst>
              </a:tr>
              <a:tr h="1479838">
                <a:tc>
                  <a:txBody>
                    <a:bodyPr/>
                    <a:lstStyle/>
                    <a:p>
                      <a:pPr>
                        <a:buNone/>
                      </a:pPr>
                      <a:r>
                        <a:rPr lang="en-IN" sz="2800" b="1">
                          <a:latin typeface="Times New Roman" panose="02020603050405020304" pitchFamily="18" charset="0"/>
                          <a:cs typeface="Times New Roman" panose="02020603050405020304" pitchFamily="18" charset="0"/>
                        </a:rPr>
                        <a:t>Jiang et al.</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lgn="r">
                        <a:buNone/>
                      </a:pPr>
                      <a:r>
                        <a:rPr lang="en-IN" sz="2800">
                          <a:latin typeface="Times New Roman" panose="02020603050405020304" pitchFamily="18" charset="0"/>
                          <a:cs typeface="Times New Roman" panose="02020603050405020304" pitchFamily="18" charset="0"/>
                        </a:rPr>
                        <a:t>2023</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Reviewed blockchain applications and challenges in waste management systems.</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Enhances data integrity and transparency.</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Scalability and large-scale adoption remain challenges.</a:t>
                      </a:r>
                    </a:p>
                  </a:txBody>
                  <a:tcPr marL="39701" marR="39701" marT="19851" marB="19851" anchor="ctr">
                    <a:lnL>
                      <a:noFill/>
                    </a:lnL>
                    <a:lnR>
                      <a:noFill/>
                    </a:lnR>
                    <a:lnT>
                      <a:noFill/>
                    </a:lnT>
                    <a:lnB>
                      <a:noFill/>
                    </a:lnB>
                    <a:noFill/>
                  </a:tcPr>
                </a:tc>
                <a:extLst>
                  <a:ext uri="{0D108BD9-81ED-4DB2-BD59-A6C34878D82A}">
                    <a16:rowId xmlns:a16="http://schemas.microsoft.com/office/drawing/2014/main" val="3031953839"/>
                  </a:ext>
                </a:extLst>
              </a:tr>
              <a:tr h="1479838">
                <a:tc>
                  <a:txBody>
                    <a:bodyPr/>
                    <a:lstStyle/>
                    <a:p>
                      <a:pPr>
                        <a:buNone/>
                      </a:pPr>
                      <a:r>
                        <a:rPr lang="en-IN" sz="2800" b="1">
                          <a:latin typeface="Times New Roman" panose="02020603050405020304" pitchFamily="18" charset="0"/>
                          <a:cs typeface="Times New Roman" panose="02020603050405020304" pitchFamily="18" charset="0"/>
                        </a:rPr>
                        <a:t>Ajakwe et al.</a:t>
                      </a:r>
                      <a:endParaRPr lang="en-IN" sz="2800">
                        <a:latin typeface="Times New Roman" panose="02020603050405020304" pitchFamily="18" charset="0"/>
                        <a:cs typeface="Times New Roman" panose="02020603050405020304" pitchFamily="18" charset="0"/>
                      </a:endParaRPr>
                    </a:p>
                  </a:txBody>
                  <a:tcPr marL="39701" marR="39701" marT="19851" marB="19851" anchor="ctr">
                    <a:lnL>
                      <a:noFill/>
                    </a:lnL>
                    <a:lnR>
                      <a:noFill/>
                    </a:lnR>
                    <a:lnT>
                      <a:noFill/>
                    </a:lnT>
                    <a:lnB>
                      <a:noFill/>
                    </a:lnB>
                    <a:noFill/>
                  </a:tcPr>
                </a:tc>
                <a:tc>
                  <a:txBody>
                    <a:bodyPr/>
                    <a:lstStyle/>
                    <a:p>
                      <a:pPr algn="r">
                        <a:buNone/>
                      </a:pPr>
                      <a:r>
                        <a:rPr lang="en-IN" sz="2800">
                          <a:latin typeface="Times New Roman" panose="02020603050405020304" pitchFamily="18" charset="0"/>
                          <a:cs typeface="Times New Roman" panose="02020603050405020304" pitchFamily="18" charset="0"/>
                        </a:rPr>
                        <a:t>2025</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Explored IoT and blockchain integration for environmental monitoring.</a:t>
                      </a:r>
                    </a:p>
                  </a:txBody>
                  <a:tcPr marL="39701" marR="39701" marT="19851" marB="19851" anchor="ctr">
                    <a:lnL>
                      <a:noFill/>
                    </a:lnL>
                    <a:lnR>
                      <a:noFill/>
                    </a:lnR>
                    <a:lnT>
                      <a:noFill/>
                    </a:lnT>
                    <a:lnB>
                      <a:noFill/>
                    </a:lnB>
                    <a:noFill/>
                  </a:tcPr>
                </a:tc>
                <a:tc>
                  <a:txBody>
                    <a:bodyPr/>
                    <a:lstStyle/>
                    <a:p>
                      <a:pPr>
                        <a:buNone/>
                      </a:pPr>
                      <a:r>
                        <a:rPr lang="en-US" sz="2800">
                          <a:latin typeface="Times New Roman" panose="02020603050405020304" pitchFamily="18" charset="0"/>
                          <a:cs typeface="Times New Roman" panose="02020603050405020304" pitchFamily="18" charset="0"/>
                        </a:rPr>
                        <a:t>Enables real-time monitoring and secure data management.</a:t>
                      </a:r>
                    </a:p>
                  </a:txBody>
                  <a:tcPr marL="39701" marR="39701" marT="19851" marB="19851" anchor="ctr">
                    <a:lnL>
                      <a:noFill/>
                    </a:lnL>
                    <a:lnR>
                      <a:noFill/>
                    </a:lnR>
                    <a:lnT>
                      <a:noFill/>
                    </a:lnT>
                    <a:lnB>
                      <a:noFill/>
                    </a:lnB>
                    <a:noFill/>
                  </a:tcPr>
                </a:tc>
                <a:tc>
                  <a:txBody>
                    <a:bodyPr/>
                    <a:lstStyle/>
                    <a:p>
                      <a:pPr>
                        <a:buNone/>
                      </a:pPr>
                      <a:r>
                        <a:rPr lang="en-US" sz="2800" dirty="0">
                          <a:latin typeface="Times New Roman" panose="02020603050405020304" pitchFamily="18" charset="0"/>
                          <a:cs typeface="Times New Roman" panose="02020603050405020304" pitchFamily="18" charset="0"/>
                        </a:rPr>
                        <a:t>Sensor coverage and implementation cost can be limitations.</a:t>
                      </a:r>
                    </a:p>
                  </a:txBody>
                  <a:tcPr marL="39701" marR="39701" marT="19851" marB="19851" anchor="ctr">
                    <a:lnL>
                      <a:noFill/>
                    </a:lnL>
                    <a:lnR>
                      <a:noFill/>
                    </a:lnR>
                    <a:lnT>
                      <a:noFill/>
                    </a:lnT>
                    <a:lnB>
                      <a:noFill/>
                    </a:lnB>
                    <a:noFill/>
                  </a:tcPr>
                </a:tc>
                <a:extLst>
                  <a:ext uri="{0D108BD9-81ED-4DB2-BD59-A6C34878D82A}">
                    <a16:rowId xmlns:a16="http://schemas.microsoft.com/office/drawing/2014/main" val="184048398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a:off x="15009623" y="-14853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grpSp>
        <p:nvGrpSpPr>
          <p:cNvPr id="3" name="Group 3"/>
          <p:cNvGrpSpPr/>
          <p:nvPr/>
        </p:nvGrpSpPr>
        <p:grpSpPr>
          <a:xfrm>
            <a:off x="731631" y="404494"/>
            <a:ext cx="7781862" cy="1047170"/>
            <a:chOff x="0" y="0"/>
            <a:chExt cx="10375816" cy="1396226"/>
          </a:xfrm>
        </p:grpSpPr>
        <p:sp>
          <p:nvSpPr>
            <p:cNvPr id="4" name="Freeform 4"/>
            <p:cNvSpPr/>
            <p:nvPr/>
          </p:nvSpPr>
          <p:spPr>
            <a:xfrm>
              <a:off x="0" y="0"/>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000000">
                <a:alpha val="0"/>
              </a:srgbClr>
            </a:solidFill>
          </p:spPr>
        </p:sp>
        <p:sp>
          <p:nvSpPr>
            <p:cNvPr id="5" name="TextBox 5"/>
            <p:cNvSpPr txBox="1"/>
            <p:nvPr/>
          </p:nvSpPr>
          <p:spPr>
            <a:xfrm>
              <a:off x="0" y="-19050"/>
              <a:ext cx="10375816" cy="1415276"/>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EXISTING SYSTEM :</a:t>
              </a:r>
            </a:p>
          </p:txBody>
        </p:sp>
      </p:grpSp>
      <p:grpSp>
        <p:nvGrpSpPr>
          <p:cNvPr id="6" name="Group 6"/>
          <p:cNvGrpSpPr/>
          <p:nvPr/>
        </p:nvGrpSpPr>
        <p:grpSpPr>
          <a:xfrm>
            <a:off x="731631" y="1671852"/>
            <a:ext cx="4950523" cy="38100"/>
            <a:chOff x="0" y="0"/>
            <a:chExt cx="6600697" cy="50800"/>
          </a:xfrm>
        </p:grpSpPr>
        <p:sp>
          <p:nvSpPr>
            <p:cNvPr id="7" name="Freeform 7"/>
            <p:cNvSpPr/>
            <p:nvPr/>
          </p:nvSpPr>
          <p:spPr>
            <a:xfrm>
              <a:off x="0" y="0"/>
              <a:ext cx="6600698" cy="50800"/>
            </a:xfrm>
            <a:custGeom>
              <a:avLst/>
              <a:gdLst/>
              <a:ahLst/>
              <a:cxnLst/>
              <a:rect l="l" t="t" r="r" b="b"/>
              <a:pathLst>
                <a:path w="6600698" h="50800">
                  <a:moveTo>
                    <a:pt x="0" y="0"/>
                  </a:moveTo>
                  <a:lnTo>
                    <a:pt x="6600698" y="0"/>
                  </a:lnTo>
                  <a:lnTo>
                    <a:pt x="6600698" y="50800"/>
                  </a:lnTo>
                  <a:lnTo>
                    <a:pt x="0" y="50800"/>
                  </a:lnTo>
                  <a:close/>
                </a:path>
              </a:pathLst>
            </a:custGeom>
            <a:solidFill>
              <a:srgbClr val="A69C8E"/>
            </a:solidFill>
          </p:spPr>
        </p:sp>
      </p:grpSp>
      <p:grpSp>
        <p:nvGrpSpPr>
          <p:cNvPr id="8" name="Group 8"/>
          <p:cNvGrpSpPr/>
          <p:nvPr/>
        </p:nvGrpSpPr>
        <p:grpSpPr>
          <a:xfrm>
            <a:off x="951277" y="2114549"/>
            <a:ext cx="15221897" cy="8316871"/>
            <a:chOff x="0" y="-153443"/>
            <a:chExt cx="20295862" cy="11089162"/>
          </a:xfrm>
        </p:grpSpPr>
        <p:sp>
          <p:nvSpPr>
            <p:cNvPr id="9" name="Freeform 9"/>
            <p:cNvSpPr/>
            <p:nvPr/>
          </p:nvSpPr>
          <p:spPr>
            <a:xfrm>
              <a:off x="0" y="0"/>
              <a:ext cx="18744462" cy="10935719"/>
            </a:xfrm>
            <a:custGeom>
              <a:avLst/>
              <a:gdLst/>
              <a:ahLst/>
              <a:cxnLst/>
              <a:rect l="l" t="t" r="r" b="b"/>
              <a:pathLst>
                <a:path w="18744462" h="10935719">
                  <a:moveTo>
                    <a:pt x="0" y="0"/>
                  </a:moveTo>
                  <a:lnTo>
                    <a:pt x="18744462" y="0"/>
                  </a:lnTo>
                  <a:lnTo>
                    <a:pt x="18744462" y="10935719"/>
                  </a:lnTo>
                  <a:lnTo>
                    <a:pt x="0" y="10935719"/>
                  </a:lnTo>
                  <a:close/>
                </a:path>
              </a:pathLst>
            </a:custGeom>
            <a:solidFill>
              <a:srgbClr val="000000">
                <a:alpha val="0"/>
              </a:srgbClr>
            </a:solidFill>
          </p:spPr>
        </p:sp>
        <p:sp>
          <p:nvSpPr>
            <p:cNvPr id="10" name="TextBox 10"/>
            <p:cNvSpPr txBox="1"/>
            <p:nvPr/>
          </p:nvSpPr>
          <p:spPr>
            <a:xfrm>
              <a:off x="1086556" y="-153443"/>
              <a:ext cx="19209306" cy="3363172"/>
            </a:xfrm>
            <a:prstGeom prst="rect">
              <a:avLst/>
            </a:prstGeom>
          </p:spPr>
          <p:txBody>
            <a:bodyPr lIns="0" tIns="0" rIns="0" bIns="0" rtlCol="0" anchor="t"/>
            <a:lstStyle/>
            <a:p>
              <a:r>
                <a:rPr lang="en-US" sz="3000" dirty="0">
                  <a:latin typeface="Times New Roman" panose="02020603050405020304" pitchFamily="18" charset="0"/>
                  <a:cs typeface="Times New Roman" panose="02020603050405020304" pitchFamily="18" charset="0"/>
                </a:rPr>
                <a:t>Hazardous waste management is commonly handled using </a:t>
              </a:r>
              <a:r>
                <a:rPr lang="en-US" sz="3000" b="1" dirty="0">
                  <a:latin typeface="Times New Roman" panose="02020603050405020304" pitchFamily="18" charset="0"/>
                  <a:cs typeface="Times New Roman" panose="02020603050405020304" pitchFamily="18" charset="0"/>
                </a:rPr>
                <a:t>manual records, spreadsheets, and separate systems</a:t>
              </a:r>
              <a:r>
                <a:rPr lang="en-US" sz="3000" dirty="0">
                  <a:latin typeface="Times New Roman" panose="02020603050405020304" pitchFamily="18" charset="0"/>
                  <a:cs typeface="Times New Roman" panose="02020603050405020304" pitchFamily="18" charset="0"/>
                </a:rPr>
                <a:t> for collection, transportation, treatment, and disposal. Tracking between laboratories, transporters, treatment facilities, and administrators is often not centralized. Quantity verification, document management, and compliance monitoring may require manual checking, while delays and discrepancies may not be detected immediately.</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grpSp>
      <p:sp>
        <p:nvSpPr>
          <p:cNvPr id="11" name="Rectangle 1">
            <a:extLst>
              <a:ext uri="{FF2B5EF4-FFF2-40B4-BE49-F238E27FC236}">
                <a16:creationId xmlns:a16="http://schemas.microsoft.com/office/drawing/2014/main" id="{BC873D77-E63E-DC3B-4A53-40ED1A0EE220}"/>
              </a:ext>
            </a:extLst>
          </p:cNvPr>
          <p:cNvSpPr>
            <a:spLocks noChangeArrowheads="1"/>
          </p:cNvSpPr>
          <p:nvPr/>
        </p:nvSpPr>
        <p:spPr bwMode="auto">
          <a:xfrm>
            <a:off x="1405743" y="4370861"/>
            <a:ext cx="1593098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Hazardous waste management is often handled through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records and separate systems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Waste collection, transportation, treatment, and disposal information may be maintained independently.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tracking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waste movement is limited.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Quantity verification is often performed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manually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discrepancies difficult to detect quickly.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documents and compliance records may not be identified immediately.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between laboratories, transporters, facilities, and administrators can be delayed.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31631" y="559797"/>
            <a:ext cx="7781862" cy="1047170"/>
            <a:chOff x="0" y="0"/>
            <a:chExt cx="10375816" cy="1396226"/>
          </a:xfrm>
        </p:grpSpPr>
        <p:sp>
          <p:nvSpPr>
            <p:cNvPr id="3" name="Freeform 3"/>
            <p:cNvSpPr/>
            <p:nvPr/>
          </p:nvSpPr>
          <p:spPr>
            <a:xfrm>
              <a:off x="0" y="0"/>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000000">
                <a:alpha val="0"/>
              </a:srgbClr>
            </a:solidFill>
          </p:spPr>
        </p:sp>
        <p:sp>
          <p:nvSpPr>
            <p:cNvPr id="4" name="TextBox 4"/>
            <p:cNvSpPr txBox="1"/>
            <p:nvPr/>
          </p:nvSpPr>
          <p:spPr>
            <a:xfrm>
              <a:off x="0" y="-19050"/>
              <a:ext cx="10375816" cy="1415276"/>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DISADVANTAGES :</a:t>
              </a:r>
            </a:p>
          </p:txBody>
        </p:sp>
      </p:grpSp>
      <p:grpSp>
        <p:nvGrpSpPr>
          <p:cNvPr id="5" name="Group 5"/>
          <p:cNvGrpSpPr/>
          <p:nvPr/>
        </p:nvGrpSpPr>
        <p:grpSpPr>
          <a:xfrm>
            <a:off x="731631" y="1934387"/>
            <a:ext cx="4950523" cy="38100"/>
            <a:chOff x="0" y="0"/>
            <a:chExt cx="6600697" cy="50800"/>
          </a:xfrm>
        </p:grpSpPr>
        <p:sp>
          <p:nvSpPr>
            <p:cNvPr id="6" name="Freeform 6"/>
            <p:cNvSpPr/>
            <p:nvPr/>
          </p:nvSpPr>
          <p:spPr>
            <a:xfrm>
              <a:off x="0" y="0"/>
              <a:ext cx="6600698" cy="50800"/>
            </a:xfrm>
            <a:custGeom>
              <a:avLst/>
              <a:gdLst/>
              <a:ahLst/>
              <a:cxnLst/>
              <a:rect l="l" t="t" r="r" b="b"/>
              <a:pathLst>
                <a:path w="6600698" h="50800">
                  <a:moveTo>
                    <a:pt x="0" y="0"/>
                  </a:moveTo>
                  <a:lnTo>
                    <a:pt x="6600698" y="0"/>
                  </a:lnTo>
                  <a:lnTo>
                    <a:pt x="6600698" y="50800"/>
                  </a:lnTo>
                  <a:lnTo>
                    <a:pt x="0" y="50800"/>
                  </a:lnTo>
                  <a:close/>
                </a:path>
              </a:pathLst>
            </a:custGeom>
            <a:solidFill>
              <a:srgbClr val="A69C8E"/>
            </a:solidFill>
          </p:spPr>
        </p:sp>
      </p:grpSp>
      <p:sp>
        <p:nvSpPr>
          <p:cNvPr id="8" name="Freeform 8"/>
          <p:cNvSpPr/>
          <p:nvPr/>
        </p:nvSpPr>
        <p:spPr>
          <a:xfrm>
            <a:off x="731631" y="2526685"/>
            <a:ext cx="14302398" cy="5800725"/>
          </a:xfrm>
          <a:custGeom>
            <a:avLst/>
            <a:gdLst/>
            <a:ahLst/>
            <a:cxnLst/>
            <a:rect l="l" t="t" r="r" b="b"/>
            <a:pathLst>
              <a:path w="19069864" h="7734300">
                <a:moveTo>
                  <a:pt x="0" y="0"/>
                </a:moveTo>
                <a:lnTo>
                  <a:pt x="19069864" y="0"/>
                </a:lnTo>
                <a:lnTo>
                  <a:pt x="19069864" y="7734300"/>
                </a:lnTo>
                <a:lnTo>
                  <a:pt x="0" y="7734300"/>
                </a:lnTo>
                <a:close/>
              </a:path>
            </a:pathLst>
          </a:custGeom>
          <a:solidFill>
            <a:srgbClr val="000000">
              <a:alpha val="0"/>
            </a:srgbClr>
          </a:solidFill>
        </p:spPr>
      </p:sp>
      <p:sp>
        <p:nvSpPr>
          <p:cNvPr id="10" name="Freeform 10"/>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sp>
        <p:nvSpPr>
          <p:cNvPr id="11" name="Rectangle 1">
            <a:extLst>
              <a:ext uri="{FF2B5EF4-FFF2-40B4-BE49-F238E27FC236}">
                <a16:creationId xmlns:a16="http://schemas.microsoft.com/office/drawing/2014/main" id="{934CA923-97C8-FB8D-C043-4F054F621D1E}"/>
              </a:ext>
            </a:extLst>
          </p:cNvPr>
          <p:cNvSpPr>
            <a:spLocks noChangeArrowheads="1"/>
          </p:cNvSpPr>
          <p:nvPr/>
        </p:nvSpPr>
        <p:spPr bwMode="auto">
          <a:xfrm>
            <a:off x="713678" y="2396845"/>
            <a:ext cx="16842691"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Data Management</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Paper-based or separate records can lead to data entry errors and difficulty in maintaining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Real-Time Tracking</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Waste movement and shipment status may not be monitored continuously.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Quantity Mismatch Detection</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Differences between collected and received quantities may require manual verification.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Alerts</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Critical issues such as delays, missing documents, and incidents may not be reported immediately.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Traceability</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Tracking the complete journey of hazardous waste across different organizations can be difficult.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Investigation Support</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Existing approaches may not provide a centralized mechanism to investigate discrepancies and maintain supporting evidence.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Proactive Monitoring</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Users generally need to check the system manually instead of receiving automatic alerts for important events.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Fragmented Communication</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Laboratories, transporters, facilities, and administrators may use separate methods to communicate and exchange information.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31631" y="476539"/>
            <a:ext cx="7781862" cy="1430419"/>
            <a:chOff x="0" y="-19050"/>
            <a:chExt cx="10375816" cy="1907224"/>
          </a:xfrm>
        </p:grpSpPr>
        <p:sp>
          <p:nvSpPr>
            <p:cNvPr id="3" name="Freeform 3"/>
            <p:cNvSpPr/>
            <p:nvPr/>
          </p:nvSpPr>
          <p:spPr>
            <a:xfrm>
              <a:off x="0" y="491948"/>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000000">
                <a:alpha val="0"/>
              </a:srgbClr>
            </a:solidFill>
          </p:spPr>
        </p:sp>
        <p:sp>
          <p:nvSpPr>
            <p:cNvPr id="4" name="TextBox 4"/>
            <p:cNvSpPr txBox="1"/>
            <p:nvPr/>
          </p:nvSpPr>
          <p:spPr>
            <a:xfrm>
              <a:off x="0" y="-19050"/>
              <a:ext cx="10375816" cy="1415276"/>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PROPOSED SYSTEM :</a:t>
              </a:r>
            </a:p>
          </p:txBody>
        </p:sp>
      </p:grpSp>
      <p:grpSp>
        <p:nvGrpSpPr>
          <p:cNvPr id="5" name="Group 5"/>
          <p:cNvGrpSpPr/>
          <p:nvPr/>
        </p:nvGrpSpPr>
        <p:grpSpPr>
          <a:xfrm>
            <a:off x="750681" y="1701461"/>
            <a:ext cx="5511832" cy="38100"/>
            <a:chOff x="0" y="0"/>
            <a:chExt cx="7349109" cy="50800"/>
          </a:xfrm>
        </p:grpSpPr>
        <p:sp>
          <p:nvSpPr>
            <p:cNvPr id="6" name="Freeform 6"/>
            <p:cNvSpPr/>
            <p:nvPr/>
          </p:nvSpPr>
          <p:spPr>
            <a:xfrm>
              <a:off x="0" y="0"/>
              <a:ext cx="7349109" cy="50800"/>
            </a:xfrm>
            <a:custGeom>
              <a:avLst/>
              <a:gdLst/>
              <a:ahLst/>
              <a:cxnLst/>
              <a:rect l="l" t="t" r="r" b="b"/>
              <a:pathLst>
                <a:path w="7349109" h="50800">
                  <a:moveTo>
                    <a:pt x="0" y="0"/>
                  </a:moveTo>
                  <a:lnTo>
                    <a:pt x="7349109" y="0"/>
                  </a:lnTo>
                  <a:lnTo>
                    <a:pt x="7349109" y="50800"/>
                  </a:lnTo>
                  <a:lnTo>
                    <a:pt x="0" y="50800"/>
                  </a:lnTo>
                  <a:close/>
                </a:path>
              </a:pathLst>
            </a:custGeom>
            <a:solidFill>
              <a:srgbClr val="A69C8E"/>
            </a:solidFill>
          </p:spPr>
        </p:sp>
      </p:grpSp>
      <p:sp>
        <p:nvSpPr>
          <p:cNvPr id="7" name="Freeform 7"/>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grpSp>
        <p:nvGrpSpPr>
          <p:cNvPr id="8" name="Group 8"/>
          <p:cNvGrpSpPr/>
          <p:nvPr/>
        </p:nvGrpSpPr>
        <p:grpSpPr>
          <a:xfrm>
            <a:off x="750681" y="2623423"/>
            <a:ext cx="14058346" cy="6791708"/>
            <a:chOff x="0" y="0"/>
            <a:chExt cx="18744461" cy="9055611"/>
          </a:xfrm>
        </p:grpSpPr>
        <p:sp>
          <p:nvSpPr>
            <p:cNvPr id="9" name="Freeform 9"/>
            <p:cNvSpPr/>
            <p:nvPr/>
          </p:nvSpPr>
          <p:spPr>
            <a:xfrm>
              <a:off x="0" y="0"/>
              <a:ext cx="18744462" cy="9055612"/>
            </a:xfrm>
            <a:custGeom>
              <a:avLst/>
              <a:gdLst/>
              <a:ahLst/>
              <a:cxnLst/>
              <a:rect l="l" t="t" r="r" b="b"/>
              <a:pathLst>
                <a:path w="18744462" h="9055612">
                  <a:moveTo>
                    <a:pt x="0" y="0"/>
                  </a:moveTo>
                  <a:lnTo>
                    <a:pt x="18744462" y="0"/>
                  </a:lnTo>
                  <a:lnTo>
                    <a:pt x="18744462" y="9055612"/>
                  </a:lnTo>
                  <a:lnTo>
                    <a:pt x="0" y="9055612"/>
                  </a:lnTo>
                  <a:close/>
                </a:path>
              </a:pathLst>
            </a:custGeom>
            <a:solidFill>
              <a:srgbClr val="000000">
                <a:alpha val="0"/>
              </a:srgbClr>
            </a:solidFill>
          </p:spPr>
        </p:sp>
        <p:sp>
          <p:nvSpPr>
            <p:cNvPr id="10" name="TextBox 10"/>
            <p:cNvSpPr txBox="1"/>
            <p:nvPr/>
          </p:nvSpPr>
          <p:spPr>
            <a:xfrm>
              <a:off x="0" y="-171450"/>
              <a:ext cx="18744461" cy="9227061"/>
            </a:xfrm>
            <a:prstGeom prst="rect">
              <a:avLst/>
            </a:prstGeom>
          </p:spPr>
          <p:txBody>
            <a:bodyPr lIns="0" tIns="0" rIns="0" bIns="0" rtlCol="0" anchor="t"/>
            <a:lstStyle/>
            <a:p>
              <a:pPr algn="just">
                <a:lnSpc>
                  <a:spcPts val="4750"/>
                </a:lnSpc>
              </a:pPr>
              <a:r>
                <a:rPr lang="en-US" sz="3200" dirty="0">
                  <a:latin typeface="Times New Roman" panose="02020603050405020304" pitchFamily="18" charset="0"/>
                  <a:cs typeface="Times New Roman" panose="02020603050405020304" pitchFamily="18" charset="0"/>
                </a:rPr>
                <a:t>The proposed </a:t>
              </a:r>
              <a:r>
                <a:rPr lang="en-US" sz="3200" b="1" dirty="0">
                  <a:latin typeface="Times New Roman" panose="02020603050405020304" pitchFamily="18" charset="0"/>
                  <a:cs typeface="Times New Roman" panose="02020603050405020304" pitchFamily="18" charset="0"/>
                </a:rPr>
                <a:t>Hazardous Waste Management &amp; Tracking System</a:t>
              </a:r>
              <a:r>
                <a:rPr lang="en-US" sz="3200" dirty="0">
                  <a:latin typeface="Times New Roman" panose="02020603050405020304" pitchFamily="18" charset="0"/>
                  <a:cs typeface="Times New Roman" panose="02020603050405020304" pitchFamily="18" charset="0"/>
                </a:rPr>
                <a:t> is a centralized web-based platform that digitally manages the complete hazardous waste lifecycle from </a:t>
              </a:r>
              <a:r>
                <a:rPr lang="en-US" sz="3200" b="1" dirty="0">
                  <a:latin typeface="Times New Roman" panose="02020603050405020304" pitchFamily="18" charset="0"/>
                  <a:cs typeface="Times New Roman" panose="02020603050405020304" pitchFamily="18" charset="0"/>
                </a:rPr>
                <a:t>registration to final disposal</a:t>
              </a:r>
              <a:r>
                <a:rPr lang="en-US" sz="3200" dirty="0">
                  <a:latin typeface="Times New Roman" panose="02020603050405020304" pitchFamily="18" charset="0"/>
                  <a:cs typeface="Times New Roman" panose="02020603050405020304" pitchFamily="18" charset="0"/>
                </a:rPr>
                <a:t>. It connects laboratories, industries, transporters, treatment facilities, and administrators through role-based portals. The system provides </a:t>
              </a:r>
              <a:r>
                <a:rPr lang="en-US" sz="3200" b="1" dirty="0">
                  <a:latin typeface="Times New Roman" panose="02020603050405020304" pitchFamily="18" charset="0"/>
                  <a:cs typeface="Times New Roman" panose="02020603050405020304" pitchFamily="18" charset="0"/>
                </a:rPr>
                <a:t>real-time tracking, QR-based identification, automated monitoring, quantity mismatch detection, compliance management, and digital document handling</a:t>
              </a:r>
              <a:r>
                <a:rPr lang="en-US" sz="3200" dirty="0">
                  <a:latin typeface="Times New Roman" panose="02020603050405020304" pitchFamily="18" charset="0"/>
                  <a:cs typeface="Times New Roman" panose="02020603050405020304" pitchFamily="18" charset="0"/>
                </a:rPr>
                <a:t>. It also includes an </a:t>
              </a:r>
              <a:r>
                <a:rPr lang="en-US" sz="3200" b="1" dirty="0">
                  <a:latin typeface="Times New Roman" panose="02020603050405020304" pitchFamily="18" charset="0"/>
                  <a:cs typeface="Times New Roman" panose="02020603050405020304" pitchFamily="18" charset="0"/>
                </a:rPr>
                <a:t>AI-based voice alert system</a:t>
              </a:r>
              <a:r>
                <a:rPr lang="en-US" sz="3200" dirty="0">
                  <a:latin typeface="Times New Roman" panose="02020603050405020304" pitchFamily="18" charset="0"/>
                  <a:cs typeface="Times New Roman" panose="02020603050405020304" pitchFamily="18" charset="0"/>
                </a:rPr>
                <a:t> that provides dynamic voice notifications for critical and emergency events. Administrators can investigate discrepancies, request explanations, review supporting evidence, and record resolutions or violations.</a:t>
              </a:r>
              <a:endParaRPr lang="en-US" sz="32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000000">
                <a:alpha val="0"/>
              </a:srgbClr>
            </a:solidFill>
          </p:spPr>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ADVANTAGES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69C8E"/>
            </a:solidFill>
          </p:spPr>
        </p:sp>
      </p:grpSp>
      <p:sp>
        <p:nvSpPr>
          <p:cNvPr id="12" name="TextBox 11">
            <a:extLst>
              <a:ext uri="{FF2B5EF4-FFF2-40B4-BE49-F238E27FC236}">
                <a16:creationId xmlns:a16="http://schemas.microsoft.com/office/drawing/2014/main" id="{4AFE9951-5856-DB62-82A8-8A7278BAB881}"/>
              </a:ext>
            </a:extLst>
          </p:cNvPr>
          <p:cNvSpPr txBox="1"/>
          <p:nvPr/>
        </p:nvSpPr>
        <p:spPr>
          <a:xfrm>
            <a:off x="990600" y="2292355"/>
            <a:ext cx="15544800" cy="6986528"/>
          </a:xfrm>
          <a:prstGeom prst="rect">
            <a:avLst/>
          </a:prstGeom>
          <a:noFill/>
        </p:spPr>
        <p:txBody>
          <a:bodyPr wrap="square">
            <a:spAutoFit/>
          </a:bodyPr>
          <a:lstStyle/>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Centralized Management</a:t>
            </a:r>
            <a:r>
              <a:rPr lang="en-US" sz="3200" dirty="0">
                <a:latin typeface="Times New Roman" panose="02020603050405020304" pitchFamily="18" charset="0"/>
                <a:cs typeface="Times New Roman" panose="02020603050405020304" pitchFamily="18" charset="0"/>
              </a:rPr>
              <a:t> – All waste-related information is maintained in one platform. </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Real-Time Tracking</a:t>
            </a:r>
            <a:r>
              <a:rPr lang="en-US" sz="3200" dirty="0">
                <a:latin typeface="Times New Roman" panose="02020603050405020304" pitchFamily="18" charset="0"/>
                <a:cs typeface="Times New Roman" panose="02020603050405020304" pitchFamily="18" charset="0"/>
              </a:rPr>
              <a:t> – Monitors waste throughout collection, transportation, treatment, and disposal. </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Automated Alerts</a:t>
            </a:r>
            <a:r>
              <a:rPr lang="en-US" sz="3200" dirty="0">
                <a:latin typeface="Times New Roman" panose="02020603050405020304" pitchFamily="18" charset="0"/>
                <a:cs typeface="Times New Roman" panose="02020603050405020304" pitchFamily="18" charset="0"/>
              </a:rPr>
              <a:t> – Detects delays, mismatches, missing documents, and incidents automatically. </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AI Voice Notifications</a:t>
            </a:r>
            <a:r>
              <a:rPr lang="en-US" sz="3200" dirty="0">
                <a:latin typeface="Times New Roman" panose="02020603050405020304" pitchFamily="18" charset="0"/>
                <a:cs typeface="Times New Roman" panose="02020603050405020304" pitchFamily="18" charset="0"/>
              </a:rPr>
              <a:t> – Provides immediate voice alerts for critical and emergency situations. </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QR-Based Tracking</a:t>
            </a:r>
            <a:r>
              <a:rPr lang="en-US" sz="3200" dirty="0">
                <a:latin typeface="Times New Roman" panose="02020603050405020304" pitchFamily="18" charset="0"/>
                <a:cs typeface="Times New Roman" panose="02020603050405020304" pitchFamily="18" charset="0"/>
              </a:rPr>
              <a:t> – Enables quick identification and verification of waste shipments. </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Investigation Management</a:t>
            </a:r>
            <a:r>
              <a:rPr lang="en-US" sz="3200" dirty="0">
                <a:latin typeface="Times New Roman" panose="02020603050405020304" pitchFamily="18" charset="0"/>
                <a:cs typeface="Times New Roman" panose="02020603050405020304" pitchFamily="18" charset="0"/>
              </a:rPr>
              <a:t> – Allows administrators to investigate discrepancies and review evidence. </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Improved Compliance</a:t>
            </a:r>
            <a:r>
              <a:rPr lang="en-US" sz="3200" dirty="0">
                <a:latin typeface="Times New Roman" panose="02020603050405020304" pitchFamily="18" charset="0"/>
                <a:cs typeface="Times New Roman" panose="02020603050405020304" pitchFamily="18" charset="0"/>
              </a:rPr>
              <a:t> – Helps maintain required documents, records, and regulatory activities. </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Audit Trail</a:t>
            </a:r>
            <a:r>
              <a:rPr lang="en-US" sz="3200" dirty="0">
                <a:latin typeface="Times New Roman" panose="02020603050405020304" pitchFamily="18" charset="0"/>
                <a:cs typeface="Times New Roman" panose="02020603050405020304" pitchFamily="18" charset="0"/>
              </a:rPr>
              <a:t> – Records important actions and status changes for transparency and accountability.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31631" y="404494"/>
            <a:ext cx="13599364" cy="1176656"/>
            <a:chOff x="0" y="0"/>
            <a:chExt cx="18132485" cy="1568874"/>
          </a:xfrm>
        </p:grpSpPr>
        <p:sp>
          <p:nvSpPr>
            <p:cNvPr id="3" name="Freeform 3"/>
            <p:cNvSpPr/>
            <p:nvPr/>
          </p:nvSpPr>
          <p:spPr>
            <a:xfrm>
              <a:off x="0" y="0"/>
              <a:ext cx="18132485" cy="1568874"/>
            </a:xfrm>
            <a:custGeom>
              <a:avLst/>
              <a:gdLst/>
              <a:ahLst/>
              <a:cxnLst/>
              <a:rect l="l" t="t" r="r" b="b"/>
              <a:pathLst>
                <a:path w="18132485" h="1568874">
                  <a:moveTo>
                    <a:pt x="0" y="0"/>
                  </a:moveTo>
                  <a:lnTo>
                    <a:pt x="18132485" y="0"/>
                  </a:lnTo>
                  <a:lnTo>
                    <a:pt x="18132485" y="1568874"/>
                  </a:lnTo>
                  <a:lnTo>
                    <a:pt x="0" y="1568874"/>
                  </a:lnTo>
                  <a:close/>
                </a:path>
              </a:pathLst>
            </a:custGeom>
            <a:solidFill>
              <a:srgbClr val="000000">
                <a:alpha val="0"/>
              </a:srgbClr>
            </a:solidFill>
          </p:spPr>
        </p:sp>
        <p:sp>
          <p:nvSpPr>
            <p:cNvPr id="4" name="TextBox 4"/>
            <p:cNvSpPr txBox="1"/>
            <p:nvPr/>
          </p:nvSpPr>
          <p:spPr>
            <a:xfrm>
              <a:off x="0" y="-19050"/>
              <a:ext cx="18132485" cy="1587924"/>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SYSTEM  REQUIREMENTS  &amp;  SPECIFICATIONS</a:t>
              </a:r>
            </a:p>
            <a:p>
              <a:pPr algn="l">
                <a:lnSpc>
                  <a:spcPts val="4369"/>
                </a:lnSpc>
              </a:pPr>
              <a:endParaRPr lang="en-US" sz="3799" dirty="0">
                <a:solidFill>
                  <a:srgbClr val="695C4A"/>
                </a:solidFill>
                <a:latin typeface="Brasika"/>
                <a:ea typeface="Brasika"/>
                <a:cs typeface="Brasika"/>
                <a:sym typeface="Brasika"/>
              </a:endParaRPr>
            </a:p>
          </p:txBody>
        </p:sp>
      </p:grpSp>
      <p:grpSp>
        <p:nvGrpSpPr>
          <p:cNvPr id="7" name="Group 7"/>
          <p:cNvGrpSpPr/>
          <p:nvPr/>
        </p:nvGrpSpPr>
        <p:grpSpPr>
          <a:xfrm>
            <a:off x="731631" y="1651476"/>
            <a:ext cx="9607567" cy="811848"/>
            <a:chOff x="0" y="0"/>
            <a:chExt cx="12810089" cy="1082464"/>
          </a:xfrm>
        </p:grpSpPr>
        <p:sp>
          <p:nvSpPr>
            <p:cNvPr id="8" name="Freeform 8"/>
            <p:cNvSpPr/>
            <p:nvPr/>
          </p:nvSpPr>
          <p:spPr>
            <a:xfrm>
              <a:off x="0" y="0"/>
              <a:ext cx="12810089" cy="1082464"/>
            </a:xfrm>
            <a:custGeom>
              <a:avLst/>
              <a:gdLst/>
              <a:ahLst/>
              <a:cxnLst/>
              <a:rect l="l" t="t" r="r" b="b"/>
              <a:pathLst>
                <a:path w="12810089" h="1082464">
                  <a:moveTo>
                    <a:pt x="0" y="0"/>
                  </a:moveTo>
                  <a:lnTo>
                    <a:pt x="12810089" y="0"/>
                  </a:lnTo>
                  <a:lnTo>
                    <a:pt x="12810089" y="1082464"/>
                  </a:lnTo>
                  <a:lnTo>
                    <a:pt x="0" y="1082464"/>
                  </a:lnTo>
                  <a:close/>
                </a:path>
              </a:pathLst>
            </a:custGeom>
            <a:solidFill>
              <a:srgbClr val="000000">
                <a:alpha val="0"/>
              </a:srgbClr>
            </a:solidFill>
          </p:spPr>
        </p:sp>
        <p:sp>
          <p:nvSpPr>
            <p:cNvPr id="9" name="TextBox 9"/>
            <p:cNvSpPr txBox="1"/>
            <p:nvPr/>
          </p:nvSpPr>
          <p:spPr>
            <a:xfrm>
              <a:off x="0" y="-9525"/>
              <a:ext cx="12810089" cy="1091989"/>
            </a:xfrm>
            <a:prstGeom prst="rect">
              <a:avLst/>
            </a:prstGeom>
          </p:spPr>
          <p:txBody>
            <a:bodyPr lIns="0" tIns="0" rIns="0" bIns="0" rtlCol="0" anchor="t"/>
            <a:lstStyle/>
            <a:p>
              <a:pPr algn="l">
                <a:lnSpc>
                  <a:spcPts val="3909"/>
                </a:lnSpc>
              </a:pPr>
              <a:r>
                <a:rPr lang="en-US" sz="3399" b="1">
                  <a:solidFill>
                    <a:srgbClr val="695C4A"/>
                  </a:solidFill>
                  <a:latin typeface="Arimo Bold"/>
                  <a:ea typeface="Arimo Bold"/>
                  <a:cs typeface="Arimo Bold"/>
                  <a:sym typeface="Arimo Bold"/>
                </a:rPr>
                <a:t>HARDWARE SPECIFICATIONS:</a:t>
              </a:r>
            </a:p>
            <a:p>
              <a:pPr algn="l">
                <a:lnSpc>
                  <a:spcPts val="2070"/>
                </a:lnSpc>
              </a:pPr>
              <a:endParaRPr lang="en-US" sz="3399" b="1">
                <a:solidFill>
                  <a:srgbClr val="695C4A"/>
                </a:solidFill>
                <a:latin typeface="Arimo Bold"/>
                <a:ea typeface="Arimo Bold"/>
                <a:cs typeface="Arimo Bold"/>
                <a:sym typeface="Arimo Bold"/>
              </a:endParaRPr>
            </a:p>
          </p:txBody>
        </p:sp>
      </p:grpSp>
      <p:sp>
        <p:nvSpPr>
          <p:cNvPr id="11" name="Freeform 11"/>
          <p:cNvSpPr/>
          <p:nvPr/>
        </p:nvSpPr>
        <p:spPr>
          <a:xfrm>
            <a:off x="1028700" y="2529999"/>
            <a:ext cx="14302398" cy="3495294"/>
          </a:xfrm>
          <a:custGeom>
            <a:avLst/>
            <a:gdLst/>
            <a:ahLst/>
            <a:cxnLst/>
            <a:rect l="l" t="t" r="r" b="b"/>
            <a:pathLst>
              <a:path w="19069864" h="4660392">
                <a:moveTo>
                  <a:pt x="0" y="0"/>
                </a:moveTo>
                <a:lnTo>
                  <a:pt x="19069864" y="0"/>
                </a:lnTo>
                <a:lnTo>
                  <a:pt x="19069864" y="4660392"/>
                </a:lnTo>
                <a:lnTo>
                  <a:pt x="0" y="4660392"/>
                </a:lnTo>
                <a:close/>
              </a:path>
            </a:pathLst>
          </a:custGeom>
          <a:solidFill>
            <a:srgbClr val="000000">
              <a:alpha val="0"/>
            </a:srgbClr>
          </a:solidFill>
        </p:spPr>
        <p:txBody>
          <a:bodyPr/>
          <a:lstStyle/>
          <a:p>
            <a:r>
              <a:rPr lang="en-IN" sz="2800" b="1" dirty="0">
                <a:latin typeface="Times New Roman" panose="02020603050405020304" pitchFamily="18" charset="0"/>
                <a:cs typeface="Times New Roman" panose="02020603050405020304" pitchFamily="18" charset="0"/>
              </a:rPr>
              <a:t>PROCESSOR</a:t>
            </a:r>
            <a:r>
              <a:rPr lang="en-IN" sz="2800" dirty="0">
                <a:latin typeface="Times New Roman" panose="02020603050405020304" pitchFamily="18" charset="0"/>
                <a:cs typeface="Times New Roman" panose="02020603050405020304" pitchFamily="18" charset="0"/>
              </a:rPr>
              <a:t> : Intel Core i3 / AMD </a:t>
            </a:r>
            <a:r>
              <a:rPr lang="en-IN" sz="2800" dirty="0" err="1">
                <a:latin typeface="Times New Roman" panose="02020603050405020304" pitchFamily="18" charset="0"/>
                <a:cs typeface="Times New Roman" panose="02020603050405020304" pitchFamily="18" charset="0"/>
              </a:rPr>
              <a:t>Ryzen</a:t>
            </a:r>
            <a:r>
              <a:rPr lang="en-IN" sz="2800" dirty="0">
                <a:latin typeface="Times New Roman" panose="02020603050405020304" pitchFamily="18" charset="0"/>
                <a:cs typeface="Times New Roman" panose="02020603050405020304" pitchFamily="18" charset="0"/>
              </a:rPr>
              <a:t> 3 or above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RAM</a:t>
            </a:r>
            <a:r>
              <a:rPr lang="en-IN" sz="2800" dirty="0">
                <a:latin typeface="Times New Roman" panose="02020603050405020304" pitchFamily="18" charset="0"/>
                <a:cs typeface="Times New Roman" panose="02020603050405020304" pitchFamily="18" charset="0"/>
              </a:rPr>
              <a:t> : 4 GB Minimum</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HARD DISK</a:t>
            </a:r>
            <a:r>
              <a:rPr lang="en-IN" sz="2800" dirty="0">
                <a:latin typeface="Times New Roman" panose="02020603050405020304" pitchFamily="18" charset="0"/>
                <a:cs typeface="Times New Roman" panose="02020603050405020304" pitchFamily="18" charset="0"/>
              </a:rPr>
              <a:t> : 20 GB Free Space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INPUT DEVICE</a:t>
            </a:r>
            <a:r>
              <a:rPr lang="en-IN" sz="2800" dirty="0">
                <a:latin typeface="Times New Roman" panose="02020603050405020304" pitchFamily="18" charset="0"/>
                <a:cs typeface="Times New Roman" panose="02020603050405020304" pitchFamily="18" charset="0"/>
              </a:rPr>
              <a:t> : Standard Keyboard &amp; Mouse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MONITOR</a:t>
            </a:r>
            <a:r>
              <a:rPr lang="en-IN" sz="2800" dirty="0">
                <a:latin typeface="Times New Roman" panose="02020603050405020304" pitchFamily="18" charset="0"/>
                <a:cs typeface="Times New Roman" panose="02020603050405020304" pitchFamily="18" charset="0"/>
              </a:rPr>
              <a:t> : Minimum Resolution 1366 × 768</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INTERNET</a:t>
            </a:r>
            <a:r>
              <a:rPr lang="en-IN" sz="2800" dirty="0">
                <a:latin typeface="Times New Roman" panose="02020603050405020304" pitchFamily="18" charset="0"/>
                <a:cs typeface="Times New Roman" panose="02020603050405020304" pitchFamily="18" charset="0"/>
              </a:rPr>
              <a:t> : Stable Internet Connection</a:t>
            </a:r>
          </a:p>
        </p:txBody>
      </p:sp>
      <p:grpSp>
        <p:nvGrpSpPr>
          <p:cNvPr id="13" name="Group 13"/>
          <p:cNvGrpSpPr/>
          <p:nvPr/>
        </p:nvGrpSpPr>
        <p:grpSpPr>
          <a:xfrm>
            <a:off x="731687" y="5862447"/>
            <a:ext cx="9607567" cy="811848"/>
            <a:chOff x="0" y="0"/>
            <a:chExt cx="12810089" cy="1082464"/>
          </a:xfrm>
        </p:grpSpPr>
        <p:sp>
          <p:nvSpPr>
            <p:cNvPr id="14" name="Freeform 14"/>
            <p:cNvSpPr/>
            <p:nvPr/>
          </p:nvSpPr>
          <p:spPr>
            <a:xfrm>
              <a:off x="0" y="0"/>
              <a:ext cx="12810089" cy="1082464"/>
            </a:xfrm>
            <a:custGeom>
              <a:avLst/>
              <a:gdLst/>
              <a:ahLst/>
              <a:cxnLst/>
              <a:rect l="l" t="t" r="r" b="b"/>
              <a:pathLst>
                <a:path w="12810089" h="1082464">
                  <a:moveTo>
                    <a:pt x="0" y="0"/>
                  </a:moveTo>
                  <a:lnTo>
                    <a:pt x="12810089" y="0"/>
                  </a:lnTo>
                  <a:lnTo>
                    <a:pt x="12810089" y="1082464"/>
                  </a:lnTo>
                  <a:lnTo>
                    <a:pt x="0" y="1082464"/>
                  </a:lnTo>
                  <a:close/>
                </a:path>
              </a:pathLst>
            </a:custGeom>
            <a:solidFill>
              <a:srgbClr val="000000">
                <a:alpha val="0"/>
              </a:srgbClr>
            </a:solidFill>
          </p:spPr>
        </p:sp>
        <p:sp>
          <p:nvSpPr>
            <p:cNvPr id="15" name="TextBox 15"/>
            <p:cNvSpPr txBox="1"/>
            <p:nvPr/>
          </p:nvSpPr>
          <p:spPr>
            <a:xfrm>
              <a:off x="0" y="-9525"/>
              <a:ext cx="12810089" cy="1091989"/>
            </a:xfrm>
            <a:prstGeom prst="rect">
              <a:avLst/>
            </a:prstGeom>
          </p:spPr>
          <p:txBody>
            <a:bodyPr lIns="0" tIns="0" rIns="0" bIns="0" rtlCol="0" anchor="t"/>
            <a:lstStyle/>
            <a:p>
              <a:pPr algn="l">
                <a:lnSpc>
                  <a:spcPts val="3909"/>
                </a:lnSpc>
              </a:pPr>
              <a:r>
                <a:rPr lang="en-US" sz="3399" b="1">
                  <a:solidFill>
                    <a:srgbClr val="695C4A"/>
                  </a:solidFill>
                  <a:latin typeface="Arimo Bold"/>
                  <a:ea typeface="Arimo Bold"/>
                  <a:cs typeface="Arimo Bold"/>
                  <a:sym typeface="Arimo Bold"/>
                </a:rPr>
                <a:t>SOFTWARE SPECIFICATIONS:</a:t>
              </a:r>
            </a:p>
            <a:p>
              <a:pPr algn="l">
                <a:lnSpc>
                  <a:spcPts val="2070"/>
                </a:lnSpc>
              </a:pPr>
              <a:endParaRPr lang="en-US" sz="3399" b="1">
                <a:solidFill>
                  <a:srgbClr val="695C4A"/>
                </a:solidFill>
                <a:latin typeface="Arimo Bold"/>
                <a:ea typeface="Arimo Bold"/>
                <a:cs typeface="Arimo Bold"/>
                <a:sym typeface="Arimo Bold"/>
              </a:endParaRPr>
            </a:p>
          </p:txBody>
        </p:sp>
      </p:grpSp>
      <p:sp>
        <p:nvSpPr>
          <p:cNvPr id="17" name="Freeform 17"/>
          <p:cNvSpPr/>
          <p:nvPr/>
        </p:nvSpPr>
        <p:spPr>
          <a:xfrm>
            <a:off x="1028700" y="6740969"/>
            <a:ext cx="15529148" cy="4142994"/>
          </a:xfrm>
          <a:custGeom>
            <a:avLst/>
            <a:gdLst/>
            <a:ahLst/>
            <a:cxnLst/>
            <a:rect l="l" t="t" r="r" b="b"/>
            <a:pathLst>
              <a:path w="20705530" h="5523992">
                <a:moveTo>
                  <a:pt x="0" y="0"/>
                </a:moveTo>
                <a:lnTo>
                  <a:pt x="20705530" y="0"/>
                </a:lnTo>
                <a:lnTo>
                  <a:pt x="20705530" y="5523992"/>
                </a:lnTo>
                <a:lnTo>
                  <a:pt x="0" y="5523992"/>
                </a:lnTo>
                <a:close/>
              </a:path>
            </a:pathLst>
          </a:custGeom>
          <a:solidFill>
            <a:srgbClr val="000000">
              <a:alpha val="0"/>
            </a:srgbClr>
          </a:solidFill>
        </p:spPr>
        <p:txBody>
          <a:bodyPr/>
          <a:lstStyle/>
          <a:p>
            <a:r>
              <a:rPr lang="en-IN" sz="2800" b="1" dirty="0">
                <a:latin typeface="Times New Roman" panose="02020603050405020304" pitchFamily="18" charset="0"/>
                <a:cs typeface="Times New Roman" panose="02020603050405020304" pitchFamily="18" charset="0"/>
              </a:rPr>
              <a:t>OPERATING SYSTEM</a:t>
            </a:r>
            <a:r>
              <a:rPr lang="en-IN" sz="2800" dirty="0">
                <a:latin typeface="Times New Roman" panose="02020603050405020304" pitchFamily="18" charset="0"/>
                <a:cs typeface="Times New Roman" panose="02020603050405020304" pitchFamily="18" charset="0"/>
              </a:rPr>
              <a:t> : Windows 10 / 11 or above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FRONTEND</a:t>
            </a:r>
            <a:r>
              <a:rPr lang="en-IN" sz="2800" dirty="0">
                <a:latin typeface="Times New Roman" panose="02020603050405020304" pitchFamily="18" charset="0"/>
                <a:cs typeface="Times New Roman" panose="02020603050405020304" pitchFamily="18" charset="0"/>
              </a:rPr>
              <a:t> : React.js, HTML5, CSS3, JavaScript</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BACKEND</a:t>
            </a:r>
            <a:r>
              <a:rPr lang="en-IN" sz="2800" dirty="0">
                <a:latin typeface="Times New Roman" panose="02020603050405020304" pitchFamily="18" charset="0"/>
                <a:cs typeface="Times New Roman" panose="02020603050405020304" pitchFamily="18" charset="0"/>
              </a:rPr>
              <a:t> : Node.js, Express.js</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DATABASE</a:t>
            </a:r>
            <a:r>
              <a:rPr lang="en-IN" sz="2800" dirty="0">
                <a:latin typeface="Times New Roman" panose="02020603050405020304" pitchFamily="18" charset="0"/>
                <a:cs typeface="Times New Roman" panose="02020603050405020304" pitchFamily="18" charset="0"/>
              </a:rPr>
              <a:t> : MongoDB</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DEVELOPMENT PLATFORM</a:t>
            </a:r>
            <a:r>
              <a:rPr lang="en-IN" sz="2800" dirty="0">
                <a:latin typeface="Times New Roman" panose="02020603050405020304" pitchFamily="18" charset="0"/>
                <a:cs typeface="Times New Roman" panose="02020603050405020304" pitchFamily="18" charset="0"/>
              </a:rPr>
              <a:t> : Visual Studio Code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VERSION CONTROL</a:t>
            </a:r>
            <a:r>
              <a:rPr lang="en-IN" sz="2800" dirty="0">
                <a:latin typeface="Times New Roman" panose="02020603050405020304" pitchFamily="18" charset="0"/>
                <a:cs typeface="Times New Roman" panose="02020603050405020304" pitchFamily="18" charset="0"/>
              </a:rPr>
              <a:t> : Git / GitHub</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ADDITIONAL TOOLS</a:t>
            </a:r>
            <a:r>
              <a:rPr lang="en-IN" sz="2800" dirty="0">
                <a:latin typeface="Times New Roman" panose="02020603050405020304" pitchFamily="18" charset="0"/>
                <a:cs typeface="Times New Roman" panose="02020603050405020304" pitchFamily="18" charset="0"/>
              </a:rPr>
              <a:t> : REST API, Socket.IO, QR Code, AI Voice/TTS</a:t>
            </a:r>
          </a:p>
        </p:txBody>
      </p:sp>
      <p:sp>
        <p:nvSpPr>
          <p:cNvPr id="19" name="Freeform 19"/>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9" name="Freeform 9"/>
          <p:cNvSpPr/>
          <p:nvPr/>
        </p:nvSpPr>
        <p:spPr>
          <a:xfrm>
            <a:off x="16222161" y="-75457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pic>
        <p:nvPicPr>
          <p:cNvPr id="11" name="Picture 10">
            <a:extLst>
              <a:ext uri="{FF2B5EF4-FFF2-40B4-BE49-F238E27FC236}">
                <a16:creationId xmlns:a16="http://schemas.microsoft.com/office/drawing/2014/main" id="{D6E2C4FD-3EDA-A1F6-A87F-9F8620FAFD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1100" y="661987"/>
            <a:ext cx="15925800" cy="89630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681069" y="-48353"/>
            <a:ext cx="11522185" cy="1715391"/>
            <a:chOff x="-4987097" y="-839029"/>
            <a:chExt cx="15362913" cy="2287187"/>
          </a:xfrm>
        </p:grpSpPr>
        <p:sp>
          <p:nvSpPr>
            <p:cNvPr id="3" name="Freeform 3"/>
            <p:cNvSpPr/>
            <p:nvPr/>
          </p:nvSpPr>
          <p:spPr>
            <a:xfrm>
              <a:off x="0" y="0"/>
              <a:ext cx="10375816" cy="1448158"/>
            </a:xfrm>
            <a:custGeom>
              <a:avLst/>
              <a:gdLst/>
              <a:ahLst/>
              <a:cxnLst/>
              <a:rect l="l" t="t" r="r" b="b"/>
              <a:pathLst>
                <a:path w="10375816" h="1448158">
                  <a:moveTo>
                    <a:pt x="0" y="0"/>
                  </a:moveTo>
                  <a:lnTo>
                    <a:pt x="10375816" y="0"/>
                  </a:lnTo>
                  <a:lnTo>
                    <a:pt x="10375816" y="1448158"/>
                  </a:lnTo>
                  <a:lnTo>
                    <a:pt x="0" y="1448158"/>
                  </a:lnTo>
                  <a:close/>
                </a:path>
              </a:pathLst>
            </a:custGeom>
            <a:solidFill>
              <a:srgbClr val="000000">
                <a:alpha val="0"/>
              </a:srgbClr>
            </a:solidFill>
          </p:spPr>
        </p:sp>
        <p:sp>
          <p:nvSpPr>
            <p:cNvPr id="4" name="TextBox 4"/>
            <p:cNvSpPr txBox="1"/>
            <p:nvPr/>
          </p:nvSpPr>
          <p:spPr>
            <a:xfrm>
              <a:off x="-4987097" y="-839029"/>
              <a:ext cx="10375816" cy="1467208"/>
            </a:xfrm>
            <a:prstGeom prst="rect">
              <a:avLst/>
            </a:prstGeom>
          </p:spPr>
          <p:txBody>
            <a:bodyPr lIns="0" tIns="0" rIns="0" bIns="0" rtlCol="0" anchor="t"/>
            <a:lstStyle/>
            <a:p>
              <a:pPr algn="l">
                <a:lnSpc>
                  <a:spcPts val="4369"/>
                </a:lnSpc>
              </a:pPr>
              <a:endParaRPr lang="en-US" sz="3799" dirty="0">
                <a:solidFill>
                  <a:srgbClr val="695C4A"/>
                </a:solidFill>
                <a:latin typeface="Brasika"/>
                <a:ea typeface="Brasika"/>
                <a:cs typeface="Brasika"/>
                <a:sym typeface="Brasika"/>
              </a:endParaRPr>
            </a:p>
            <a:p>
              <a:pPr algn="l">
                <a:lnSpc>
                  <a:spcPts val="4369"/>
                </a:lnSpc>
              </a:pPr>
              <a:r>
                <a:rPr lang="en-US" sz="3799" dirty="0">
                  <a:solidFill>
                    <a:srgbClr val="695C4A"/>
                  </a:solidFill>
                  <a:latin typeface="Brasika"/>
                  <a:ea typeface="Brasika"/>
                  <a:cs typeface="Brasika"/>
                  <a:sym typeface="Brasika"/>
                </a:rPr>
                <a:t>REFERENCES :</a:t>
              </a:r>
            </a:p>
          </p:txBody>
        </p:sp>
      </p:grpSp>
      <p:sp>
        <p:nvSpPr>
          <p:cNvPr id="7" name="Freeform 7"/>
          <p:cNvSpPr/>
          <p:nvPr/>
        </p:nvSpPr>
        <p:spPr>
          <a:xfrm>
            <a:off x="0" y="-151323"/>
            <a:ext cx="18288000" cy="10438323"/>
          </a:xfrm>
          <a:custGeom>
            <a:avLst/>
            <a:gdLst/>
            <a:ahLst/>
            <a:cxnLst/>
            <a:rect l="l" t="t" r="r" b="b"/>
            <a:pathLst>
              <a:path w="18288000" h="10438323">
                <a:moveTo>
                  <a:pt x="0" y="0"/>
                </a:moveTo>
                <a:lnTo>
                  <a:pt x="18288000" y="0"/>
                </a:lnTo>
                <a:lnTo>
                  <a:pt x="18288000" y="10438323"/>
                </a:lnTo>
                <a:lnTo>
                  <a:pt x="0" y="10438323"/>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9" name="Freeform 9"/>
          <p:cNvSpPr/>
          <p:nvPr/>
        </p:nvSpPr>
        <p:spPr>
          <a:xfrm>
            <a:off x="1339267" y="1179227"/>
            <a:ext cx="15609465" cy="8530752"/>
          </a:xfrm>
          <a:custGeom>
            <a:avLst/>
            <a:gdLst/>
            <a:ahLst/>
            <a:cxnLst/>
            <a:rect l="l" t="t" r="r" b="b"/>
            <a:pathLst>
              <a:path w="20812620" h="11374337">
                <a:moveTo>
                  <a:pt x="0" y="0"/>
                </a:moveTo>
                <a:lnTo>
                  <a:pt x="20812620" y="0"/>
                </a:lnTo>
                <a:lnTo>
                  <a:pt x="20812620" y="11374337"/>
                </a:lnTo>
                <a:lnTo>
                  <a:pt x="0" y="11374337"/>
                </a:lnTo>
                <a:close/>
              </a:path>
            </a:pathLst>
          </a:custGeom>
          <a:solidFill>
            <a:srgbClr val="000000">
              <a:alpha val="0"/>
            </a:srgbClr>
          </a:solidFill>
        </p:spPr>
      </p:sp>
      <p:sp>
        <p:nvSpPr>
          <p:cNvPr id="11" name="Freeform 11"/>
          <p:cNvSpPr/>
          <p:nvPr/>
        </p:nvSpPr>
        <p:spPr>
          <a:xfrm>
            <a:off x="15845348" y="-278497"/>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4">
              <a:alphaModFix amt="9999"/>
              <a:extLst>
                <a:ext uri="{96DAC541-7B7A-43D3-8B79-37D633B846F1}">
                  <asvg:svgBlip xmlns:asvg="http://schemas.microsoft.com/office/drawing/2016/SVG/main" r:embed="rId5"/>
                </a:ext>
              </a:extLst>
            </a:blip>
            <a:stretch>
              <a:fillRect l="-25" r="-25"/>
            </a:stretch>
          </a:blipFill>
        </p:spPr>
      </p:sp>
      <p:sp>
        <p:nvSpPr>
          <p:cNvPr id="13" name="Rectangle 2">
            <a:extLst>
              <a:ext uri="{FF2B5EF4-FFF2-40B4-BE49-F238E27FC236}">
                <a16:creationId xmlns:a16="http://schemas.microsoft.com/office/drawing/2014/main" id="{3DA0012E-B197-A81D-3300-457638A717BB}"/>
              </a:ext>
            </a:extLst>
          </p:cNvPr>
          <p:cNvSpPr>
            <a:spLocks noChangeArrowheads="1"/>
          </p:cNvSpPr>
          <p:nvPr/>
        </p:nvSpPr>
        <p:spPr bwMode="auto">
          <a:xfrm>
            <a:off x="532201" y="1499042"/>
            <a:ext cx="17983200" cy="840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W. Ahmad, K. Salah, R. Jayaraman, I. Yaqoob, and M. Omar</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“Blockchain for Waste Management in Smart Cities: A Survey,” </a:t>
            </a:r>
            <a:r>
              <a:rPr kumimoji="0" lang="en-US" altLang="en-US" sz="3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Access</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9, pp. 131520–131541, 2021.</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M. H. </a:t>
            </a:r>
            <a:r>
              <a:rPr kumimoji="0" lang="en-US" altLang="en-US" sz="3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Bamakan</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a:t>
            </a:r>
            <a:r>
              <a:rPr kumimoji="0" lang="en-US" altLang="en-US" sz="3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Malekinejad</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M. </a:t>
            </a:r>
            <a:r>
              <a:rPr kumimoji="0" lang="en-US" altLang="en-US" sz="3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Ziaeian</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“Towards Blockchain-Based Hospital Waste Management Systems: Applications and Future Trends,” </a:t>
            </a:r>
            <a:r>
              <a:rPr kumimoji="0" lang="en-US" altLang="en-US" sz="3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Cleaner Production</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349, 131440, 2022.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 Jiang, L. Zhang, S. You, Y. V. Fan, R. R. Tan, J. J. </a:t>
            </a:r>
            <a:r>
              <a:rPr kumimoji="0" lang="en-US" altLang="en-US" sz="3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Klemeš</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 You</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“Blockchain Technology Applications in Waste Management: Overview, Challenges and Opportunities,” </a:t>
            </a:r>
            <a:r>
              <a:rPr kumimoji="0" lang="en-US" altLang="en-US" sz="3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Cleaner Production</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421, 138466, 2023.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U. </a:t>
            </a:r>
            <a:r>
              <a:rPr kumimoji="0" lang="en-US" altLang="en-US" sz="3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Ajakwe</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O. </a:t>
            </a:r>
            <a:r>
              <a:rPr kumimoji="0" lang="en-US" altLang="en-US" sz="3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Ajakwe</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J.-M. Lee, and D.-S. Kim</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“Internet-of-Things-Blockchain Integration in Environmental Pollution Monitoring Data Management: Trends and Techniques,” </a:t>
            </a:r>
            <a:r>
              <a:rPr kumimoji="0" lang="en-US" altLang="en-US" sz="3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Environmental Science and Technology</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22, pp. 16123–16142, 2025.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5898127" y="4086224"/>
            <a:ext cx="7781863" cy="1563607"/>
            <a:chOff x="0" y="0"/>
            <a:chExt cx="10375817" cy="2084810"/>
          </a:xfrm>
        </p:grpSpPr>
        <p:sp>
          <p:nvSpPr>
            <p:cNvPr id="3" name="Freeform 3"/>
            <p:cNvSpPr/>
            <p:nvPr/>
          </p:nvSpPr>
          <p:spPr>
            <a:xfrm>
              <a:off x="0" y="0"/>
              <a:ext cx="10375817" cy="2084810"/>
            </a:xfrm>
            <a:custGeom>
              <a:avLst/>
              <a:gdLst/>
              <a:ahLst/>
              <a:cxnLst/>
              <a:rect l="l" t="t" r="r" b="b"/>
              <a:pathLst>
                <a:path w="10375817" h="2084810">
                  <a:moveTo>
                    <a:pt x="0" y="0"/>
                  </a:moveTo>
                  <a:lnTo>
                    <a:pt x="10375817" y="0"/>
                  </a:lnTo>
                  <a:lnTo>
                    <a:pt x="10375817" y="2084810"/>
                  </a:lnTo>
                  <a:lnTo>
                    <a:pt x="0" y="2084810"/>
                  </a:lnTo>
                  <a:close/>
                </a:path>
              </a:pathLst>
            </a:custGeom>
            <a:solidFill>
              <a:srgbClr val="000000">
                <a:alpha val="0"/>
              </a:srgbClr>
            </a:solidFill>
          </p:spPr>
        </p:sp>
        <p:sp>
          <p:nvSpPr>
            <p:cNvPr id="4" name="TextBox 4"/>
            <p:cNvSpPr txBox="1"/>
            <p:nvPr/>
          </p:nvSpPr>
          <p:spPr>
            <a:xfrm>
              <a:off x="0" y="-19050"/>
              <a:ext cx="10375817" cy="2103860"/>
            </a:xfrm>
            <a:prstGeom prst="rect">
              <a:avLst/>
            </a:prstGeom>
          </p:spPr>
          <p:txBody>
            <a:bodyPr lIns="0" tIns="0" rIns="0" bIns="0" rtlCol="0" anchor="t"/>
            <a:lstStyle/>
            <a:p>
              <a:pPr algn="l">
                <a:lnSpc>
                  <a:spcPts val="6897"/>
                </a:lnSpc>
              </a:pPr>
              <a:endParaRPr lang="en-US" sz="5998" dirty="0">
                <a:solidFill>
                  <a:srgbClr val="695C4A"/>
                </a:solidFill>
                <a:latin typeface="Brasika"/>
                <a:ea typeface="Brasika"/>
                <a:cs typeface="Brasika"/>
                <a:sym typeface="Brasika"/>
              </a:endParaRPr>
            </a:p>
          </p:txBody>
        </p:sp>
      </p:grpSp>
      <p:sp>
        <p:nvSpPr>
          <p:cNvPr id="5" name="Freeform 5"/>
          <p:cNvSpPr/>
          <p:nvPr/>
        </p:nvSpPr>
        <p:spPr>
          <a:xfrm>
            <a:off x="15410842"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25" r="-25"/>
            </a:stretch>
          </a:blipFill>
        </p:spPr>
      </p:sp>
      <p:sp>
        <p:nvSpPr>
          <p:cNvPr id="7" name="TextBox 6">
            <a:extLst>
              <a:ext uri="{FF2B5EF4-FFF2-40B4-BE49-F238E27FC236}">
                <a16:creationId xmlns:a16="http://schemas.microsoft.com/office/drawing/2014/main" id="{841C0059-1B47-186C-FC7A-00BDE114EEB5}"/>
              </a:ext>
            </a:extLst>
          </p:cNvPr>
          <p:cNvSpPr txBox="1"/>
          <p:nvPr/>
        </p:nvSpPr>
        <p:spPr>
          <a:xfrm>
            <a:off x="5890753" y="4533900"/>
            <a:ext cx="10397612" cy="986809"/>
          </a:xfrm>
          <a:prstGeom prst="rect">
            <a:avLst/>
          </a:prstGeom>
          <a:noFill/>
        </p:spPr>
        <p:txBody>
          <a:bodyPr wrap="square">
            <a:spAutoFit/>
          </a:bodyPr>
          <a:lstStyle/>
          <a:p>
            <a:pPr algn="l">
              <a:lnSpc>
                <a:spcPts val="6897"/>
              </a:lnSpc>
            </a:pPr>
            <a:r>
              <a:rPr lang="en-US" sz="6000" dirty="0">
                <a:solidFill>
                  <a:srgbClr val="695C4A"/>
                </a:solidFill>
                <a:latin typeface="Brasika"/>
                <a:ea typeface="Brasika"/>
                <a:cs typeface="Brasika"/>
                <a:sym typeface="Brasika"/>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TotalTime>
  <Words>1464</Words>
  <Application>Microsoft Office PowerPoint</Application>
  <PresentationFormat>Custom</PresentationFormat>
  <Paragraphs>115</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Times New Roman</vt:lpstr>
      <vt:lpstr>Calibri</vt:lpstr>
      <vt:lpstr>Arial</vt:lpstr>
      <vt:lpstr>Canva Sans</vt:lpstr>
      <vt:lpstr>Brasika</vt:lpstr>
      <vt:lpstr>Poppins</vt:lpstr>
      <vt:lpstr>Arimo Bold</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proposed system for autism detection integrates CNN, DNN, and ResNet50 to enhance accuracy and efficiency. CNN is used for extracting spatial features from medical images, ensuring effective pattern recognition. Deep Neural Networks (DNN) further</dc:title>
  <dc:creator>sai lakshmi</dc:creator>
  <cp:lastModifiedBy>jaganbabu r</cp:lastModifiedBy>
  <cp:revision>13</cp:revision>
  <dcterms:created xsi:type="dcterms:W3CDTF">2006-08-16T00:00:00Z</dcterms:created>
  <dcterms:modified xsi:type="dcterms:W3CDTF">2026-09-15T05:20:10Z</dcterms:modified>
  <dc:identifier>DAGe0PGZ5Yc</dc:identifier>
</cp:coreProperties>
</file>